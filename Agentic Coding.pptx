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95" r:id="rId2"/>
    <p:sldId id="345" r:id="rId3"/>
    <p:sldId id="305" r:id="rId4"/>
    <p:sldId id="346" r:id="rId5"/>
    <p:sldId id="347" r:id="rId6"/>
    <p:sldId id="348" r:id="rId7"/>
    <p:sldId id="331" r:id="rId8"/>
    <p:sldId id="332" r:id="rId9"/>
    <p:sldId id="333" r:id="rId10"/>
    <p:sldId id="349" r:id="rId11"/>
    <p:sldId id="350" r:id="rId12"/>
    <p:sldId id="351" r:id="rId13"/>
    <p:sldId id="352" r:id="rId14"/>
    <p:sldId id="337" r:id="rId15"/>
    <p:sldId id="338" r:id="rId16"/>
    <p:sldId id="353" r:id="rId17"/>
    <p:sldId id="354" r:id="rId18"/>
    <p:sldId id="355" r:id="rId19"/>
    <p:sldId id="356" r:id="rId20"/>
    <p:sldId id="303" r:id="rId21"/>
    <p:sldId id="357" r:id="rId22"/>
    <p:sldId id="343" r:id="rId23"/>
    <p:sldId id="3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/>
    <p:restoredTop sz="82763"/>
  </p:normalViewPr>
  <p:slideViewPr>
    <p:cSldViewPr snapToGrid="0">
      <p:cViewPr varScale="1">
        <p:scale>
          <a:sx n="113" d="100"/>
          <a:sy n="113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0C0A1-3B2F-D14A-851F-0E2DF4E21831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3571-8537-3947-BFEA-041D2F0B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0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60 minutes. Spoken in Arabic, slides and code in English. Goal: leave with a workflow you can run, not a list of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3571-8537-3947-BFEA-041D2F0B9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2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Concrete deliverables: a real CLAUDE.md you generated, one full spec→generate→review cycle, the five principles, and a practice repo to keep. Don't promise mastery , promise muscle memory.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quickly. Note the demo-first style. Demo #1 is bad-vs-good prompting. Demo #2 generates a memory file. Demo #3 runs the full loop with Superpowers. Buffer is in Q&amp;A.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idea hard before moving on. Everything in the workshop is a consequence of this single fact. The model has no memory between sessions , context is not a nice-to-have, it's the product. Every habit we'll teach is either adding context or protecting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spine. If anything in the workshop doesn't map back to one of these, cut it. (1) No memory → context is the product. (2) Spec before code → 'Write X' is not a spec. (3) CLAUDE.md is shared brain → README for the AI. (4) Review is not optional → AI generates plausible wrong code confidently. (5) Plans in git → chat dies, commits live.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Eight minutes. Four habits, no more. Resist the urge to list ten prompting tips , four is enough to not waste the rest of the session.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habits. Then run Demo #1: same buggy function, two prompts. Round 1 'fix this' , let the model guess, ask clarifying questions, or pick the wrong fix. Round 2 with what+why+constraint , clean result. Don't explain Round 1 until Round 2 finishes; let the contrast land on its own.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Twelve minutes , the section they asked for. Frame: every agentic tool solves the same problem (how does the AI know about my project?) and each picked a different filename for the answer.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 context file, every new session starts blank. You re-explain stack, conventions, gotchas every time , expensive in tokens, error-prone (you forget something). The fix is to write it down once in a file the tool reads automatically. This is the whole reason CLAUDE.md exists.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table. Key teaching point: the filename is cosmetic, the discipline is universal. Most tools accept plain markdown; some add frontmatter. Highlight AGENTS.md as the emerging cross-tool standard , Linux Foundation stewardship, ~60k repos, read natively by Cursor/Copilot/Codex/Windsurf/Aider/Zed and most others. Notable holdout: Claude Code still uses CLAUDE.md. Standard workaround: symlink CLAUDE.md to AGENTS.md. Verify these specifics within a week of the session , the space moves fast.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CLAUDE.md from the practice repo. Walk the five sections. Rule of thumb: root file fits on one screen , depth goes into scoped rule files. Then run Demo #2: generate a CLAUDE.md live on a small repo they haven't seen. Walk through it section by section, edit one thing live to make the point that it's just markdown. End with: 'You'll do this yourselves in the assignment.'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Seventeen minutes , the workshop's second-highest-leverage moment. This is the workflow they'll use for every real task. Includes the Superpowers segment as the production-grade version.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loop. Critical point: when the output is wrong, fix the SPEC and regenerate , don't patch the code manually. Patching the code throws away the learning. The arrow goes back to the spec, not the generated code.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sections, always. Reference existing files , it's the cheat code. 'Follow the pattern in userService.js' is worth a paragraph of description. 'Out of scope' is the brake that stops the AI rewriting half your project. Success criteria double as your review checklist , you already know what you're checking for.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review is non-negotiable. AI confidently generates plausible-looking wrong code. It hallucinates function names, imports libraries that don't exist, follows the conventions it thinks you want , not the ones you actually have. A 30-second diff catches 90% of the problems. Light touch on 'agents as markdown' here if time permits , an agent in this ecosystem is often just a markdown file defining a role plus tools plus focus. Don't go deep.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Superpowers as the production version of everything you just taught. Free, open-source, ~175k stars, accepted into the Anthropic Claude Code marketplace January 2026, now natively supports 8+ hosts (Claude Code, Cursor, Codex CLI/App, Gemini CLI, OpenCode, Copilot CLI, Factory Droid). Tell them: the discipline you just learned isn't your opinion , it's what the most-starred plugin in the ecosystem enforces by default.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skills table. No slash commands needed , say 'let's build X' and brainstorming fires before Claude writes a line. Your CLAUDE.md always wins. Tell the dashboard story (real user report): a developer asked Claude+Superpowers to 'add a dashboard for user analytics.' Instead of generating code, brainstorming activated and asked about brand identity, layout priorities, and UI patterns. Only after the spec was nailed did writing-plans run, then subagent-driven-development executed task-by-task with code review between each. That's the whole 'spec → generate → review' idea, automated. Then run Demo #3: full Superpowers flow on a real bug. Cut at 6 minutes , narrate that in a real session this continues to completion. When NOT to use it: quick scripts, exploring unfamiliar APIs, one-line fixes. Install: /plugin install superpowers@claude-plugins-official.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assignment. Use whichever filename your tool expects , the concept is the same everywhere. Graded on the process, not the fix. A broken result with a good spec and a visible review beats a working fix from 'fix it.' Show where ISSUES.md and FEATURES.md live in the repo. Mention any submission/sharing channel (Discord, email).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'The discipline matters more than the tool. If you learn the loop , spec, generate, review , you can move between Cursor, Claude, Copilot, or whatever comes next without losing your footing.' Then take questions. Likely Q's: which tool to use (whatever your team uses), does it work for X language (yes , language-agnostic), cost (free tiers fine for learning), Copilot autocomplete vs agentic (different jobs, complementary), AI replacing programmers (no, but those who use it will outpace those who don't), should I install Superpowers now (only if on Claude Code and ready for structured workflow), can I write my own skills (yes , markdown + YAML frontmatter; the writing-skills skill guides you).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21E2-375A-9F72-527D-E205C7DAD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6575C-7715-A166-76B9-648EBF91F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58CD6-97C3-D257-F51B-9AE39DF3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858B-944B-E9DC-72A1-ECD27378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88160-BBDE-42A6-7258-BE4235F6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3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EF58-9415-B4A3-2D32-0D072C19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26174-4C7F-3D21-6999-2811FEB27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09A10-F526-F491-32F2-E68439B0C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630B-3785-9148-CC01-FC8BD53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F560B-B296-25FE-18FF-C4400965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6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29A0-58AE-046F-AD1D-FC868EA73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13680-BC4F-E061-5E15-9D3C1617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D6214-57FB-0E97-B5C4-AA43625B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1C64-70BA-F0BE-1208-B6A5D2CE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D744D-B8B2-3EEF-535F-0C341713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2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5EDD-CDAF-ED29-42CD-B63D4D22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B5AE-51B5-7725-417F-99718D736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DB465-7871-4529-9902-B08448703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5732B-6279-A26D-198E-25CF1086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AEEAA-5089-F872-BD26-C33D56F5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31214-B629-193F-C3ED-D8FD64F4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35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D653-53B5-01CB-00EC-E75913BC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2633-9EF6-CC44-F9C8-3B5D8418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97249-6C0A-3FA9-DB5E-9FEF6F291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1E60E-D330-A7CA-D2C0-5D50F63E3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6A7F4-A9E0-D837-951B-68B06C35B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EFDEF-C54F-97D4-B9C9-44BF47EB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16927-A212-D591-117F-F65F0CB5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60E7B-6BC3-E558-390A-88809811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2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5C27-0CA2-8A60-8C6F-8C596A66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66832-5666-05E6-8B1B-7FEA1FE8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C50B1-8B11-6E29-19DA-EB967E31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0E97C-DA66-61EB-C9F4-B495EC9C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7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D99E3-F837-B53C-967E-00565CED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AE54D-3BD4-EE51-583E-9C6E8111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C1A5D-F6BB-360D-24F2-08DEA5FC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931D-BE38-A594-FD07-43467847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3475-F03E-39E3-410C-369885112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C8679-29BC-FB59-D398-BE8FD7BB5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E5CE3-D6D3-3C6C-9DEC-DDC921B6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24BED-9BB7-CD5A-4EBA-D46BB8E8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91948-306D-61AE-12FC-67440C6E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6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BEBE-2AE0-BEFE-9712-55F58346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A3BC5-6D5B-00CB-F8B3-931466717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294D9-AFCE-7E0F-F671-60293C004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01DB8-1904-556C-717E-6D939FBC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FCC91-CE52-39F6-5488-2C65D16B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5C4D-B031-E22D-C479-CFF44EE9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9862-D084-97A5-53F7-BB19B9B9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16803-F7EF-2733-3A6D-7771A3468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938A-01FC-39D3-0D2D-C524F129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AC840-E4E1-787D-FDE2-FDAC382E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0314-6410-935F-E87F-7E0B707A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10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D9B6A-E310-8331-BB7B-4A9979637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EA6F3-F710-C691-56CB-8964D183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EEB77-B069-3E4A-0DCB-A21586D2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018E4-ADC0-6082-B857-2C4440D0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60BD3-808D-3ED8-F938-D89486B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2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16B4A-7A64-6467-6BB6-F72060A1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5AC6E-83B0-5B4C-B79A-9F3D2E19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2ABDE-1BCC-870F-D279-923434AB1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53894-A936-6C46-8680-C187B6413623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9C64-B846-C29C-81F8-BD8387C3A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791B-332A-979F-BCA1-6BAF683B6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F99DB-E7CF-F54A-8052-A005D06D2237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AccentBar"/>
          <p:cNvSpPr/>
          <p:nvPr userDrawn="1"/>
        </p:nvSpPr>
        <p:spPr>
          <a:xfrm>
            <a:off x="0" y="6553200"/>
            <a:ext cx="9144000" cy="76200"/>
          </a:xfrm>
          <a:prstGeom prst="rect">
            <a:avLst/>
          </a:prstGeom>
          <a:solidFill>
            <a:srgbClr val="FF4F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111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E111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E111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E111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111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2BA94D-470E-2440-9A54-1872A2C17DEC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2F5B0-0FD1-0641-81F0-AF535FD9657A}"/>
              </a:ext>
            </a:extLst>
          </p:cNvPr>
          <p:cNvSpPr txBox="1"/>
          <p:nvPr/>
        </p:nvSpPr>
        <p:spPr>
          <a:xfrm>
            <a:off x="762000" y="1397000"/>
            <a:ext cx="889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WORKSHOP · 60 MIN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AF0A8-1F0F-0849-8A32-D7694AFDDA8D}"/>
              </a:ext>
            </a:extLst>
          </p:cNvPr>
          <p:cNvSpPr txBox="1"/>
          <p:nvPr/>
        </p:nvSpPr>
        <p:spPr>
          <a:xfrm>
            <a:off x="762000" y="1905000"/>
            <a:ext cx="10668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5200" b="1" dirty="0">
                <a:solidFill>
                  <a:srgbClr val="0E1116"/>
                </a:solidFill>
              </a:rPr>
              <a:t>Agentic Coding</a:t>
            </a:r>
          </a:p>
          <a:p>
            <a:r>
              <a:rPr lang="en-US" sz="2800" b="0" dirty="0">
                <a:solidFill>
                  <a:srgbClr val="1F2937"/>
                </a:solidFill>
              </a:rPr>
              <a:t>A Hands-On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07918-0C55-0746-884B-A8D814CC82B7}"/>
              </a:ext>
            </a:extLst>
          </p:cNvPr>
          <p:cNvSpPr txBox="1"/>
          <p:nvPr/>
        </p:nvSpPr>
        <p:spPr>
          <a:xfrm>
            <a:off x="762000" y="4318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0E1116"/>
                </a:solidFill>
              </a:rPr>
              <a:t>Kassem Bagher</a:t>
            </a:r>
          </a:p>
        </p:txBody>
      </p:sp>
    </p:spTree>
    <p:extLst>
      <p:ext uri="{BB962C8B-B14F-4D97-AF65-F5344CB8AC3E}">
        <p14:creationId xmlns:p14="http://schemas.microsoft.com/office/powerpoint/2010/main" val="415038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09CFE-6CDF-4F40-A583-5AA87A13BABA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WHAT YOU'LL WALK AWAY WITH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A8C26-3825-DD49-A49D-3C6C364D3D1A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 dirty="0"/>
              <a:t>Real things you can use, not just ideas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C37B6-056D-324F-A066-4067F0F54523}"/>
              </a:ext>
            </a:extLst>
          </p:cNvPr>
          <p:cNvSpPr/>
          <p:nvPr/>
        </p:nvSpPr>
        <p:spPr>
          <a:xfrm>
            <a:off x="762000" y="2032000"/>
            <a:ext cx="50800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143C9-CCAF-3E4E-905B-A456CC6B698B}"/>
              </a:ext>
            </a:extLst>
          </p:cNvPr>
          <p:cNvSpPr txBox="1"/>
          <p:nvPr/>
        </p:nvSpPr>
        <p:spPr>
          <a:xfrm>
            <a:off x="1016000" y="22352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7A9F8-9D8F-154F-BDE4-9FA6A54AEBBE}"/>
              </a:ext>
            </a:extLst>
          </p:cNvPr>
          <p:cNvSpPr txBox="1"/>
          <p:nvPr/>
        </p:nvSpPr>
        <p:spPr>
          <a:xfrm>
            <a:off x="1016000" y="2565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A project memory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EF638-5DA0-704C-8EA2-29BBC4DF1FF9}"/>
              </a:ext>
            </a:extLst>
          </p:cNvPr>
          <p:cNvSpPr txBox="1"/>
          <p:nvPr/>
        </p:nvSpPr>
        <p:spPr>
          <a:xfrm>
            <a:off x="1016000" y="30480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1F2937"/>
                </a:solidFill>
              </a:rPr>
              <a:t>CLAUDE.md / AGENTS.md generated yourself for a real repo.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675BB-CE1F-0B42-9795-895524C81A7C}"/>
              </a:ext>
            </a:extLst>
          </p:cNvPr>
          <p:cNvSpPr/>
          <p:nvPr/>
        </p:nvSpPr>
        <p:spPr>
          <a:xfrm>
            <a:off x="6096000" y="2032000"/>
            <a:ext cx="50800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EF29C-506C-9341-A425-C3430C123CA0}"/>
              </a:ext>
            </a:extLst>
          </p:cNvPr>
          <p:cNvSpPr txBox="1"/>
          <p:nvPr/>
        </p:nvSpPr>
        <p:spPr>
          <a:xfrm>
            <a:off x="6350000" y="22352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F732E-2891-EA43-9E60-731259F9147A}"/>
              </a:ext>
            </a:extLst>
          </p:cNvPr>
          <p:cNvSpPr txBox="1"/>
          <p:nvPr/>
        </p:nvSpPr>
        <p:spPr>
          <a:xfrm>
            <a:off x="6350000" y="2565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One spec → generate → review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59899-44E5-9B43-A683-BBE62586EE68}"/>
              </a:ext>
            </a:extLst>
          </p:cNvPr>
          <p:cNvSpPr txBox="1"/>
          <p:nvPr/>
        </p:nvSpPr>
        <p:spPr>
          <a:xfrm>
            <a:off x="6350000" y="30480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800">
                <a:solidFill>
                  <a:srgbClr val="1F2937"/>
                </a:solidFill>
              </a:rPr>
              <a:t>Understand the loop end-to-end. Practice on a seeded repo after the session.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52B3E-4739-E444-B3F1-A528855EF6D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6C4F0-F334-2545-8851-EAE00DF9724B}"/>
              </a:ext>
            </a:extLst>
          </p:cNvPr>
          <p:cNvSpPr txBox="1"/>
          <p:nvPr/>
        </p:nvSpPr>
        <p:spPr>
          <a:xfrm>
            <a:off x="1016000" y="43942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9EEED-DBF6-184F-8F7A-A10F22315648}"/>
              </a:ext>
            </a:extLst>
          </p:cNvPr>
          <p:cNvSpPr txBox="1"/>
          <p:nvPr/>
        </p:nvSpPr>
        <p:spPr>
          <a:xfrm>
            <a:off x="1016000" y="4724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Five core principles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52A35-5700-9546-91FB-40980D360C79}"/>
              </a:ext>
            </a:extLst>
          </p:cNvPr>
          <p:cNvSpPr txBox="1"/>
          <p:nvPr/>
        </p:nvSpPr>
        <p:spPr>
          <a:xfrm>
            <a:off x="1016000" y="52070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1F2937"/>
                </a:solidFill>
              </a:rPr>
              <a:t>A mental model you can apply tomorrow on your own projects.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7089E7-DDA9-0C46-8775-53DE619932A1}"/>
              </a:ext>
            </a:extLst>
          </p:cNvPr>
          <p:cNvSpPr/>
          <p:nvPr/>
        </p:nvSpPr>
        <p:spPr>
          <a:xfrm>
            <a:off x="6096000" y="4191000"/>
            <a:ext cx="50800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6EBD8B-D3F1-7340-8919-E9AA16BDF83B}"/>
              </a:ext>
            </a:extLst>
          </p:cNvPr>
          <p:cNvSpPr txBox="1"/>
          <p:nvPr/>
        </p:nvSpPr>
        <p:spPr>
          <a:xfrm>
            <a:off x="6350000" y="43942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6EB4B-3AB6-FB48-9580-5D611F7C515D}"/>
              </a:ext>
            </a:extLst>
          </p:cNvPr>
          <p:cNvSpPr txBox="1"/>
          <p:nvPr/>
        </p:nvSpPr>
        <p:spPr>
          <a:xfrm>
            <a:off x="6350000" y="4724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A practice repo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B5B649-9755-2449-B12A-52D4FF2BA3B2}"/>
              </a:ext>
            </a:extLst>
          </p:cNvPr>
          <p:cNvSpPr txBox="1"/>
          <p:nvPr/>
        </p:nvSpPr>
        <p:spPr>
          <a:xfrm>
            <a:off x="6350000" y="52070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1F2937"/>
                </a:solidFill>
              </a:rPr>
              <a:t>Yours to keep. Experiment after the session.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8DCB6D-9869-1440-ADFC-BA7D32198070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01</a:t>
            </a:r>
          </a:p>
        </p:txBody>
      </p:sp>
    </p:spTree>
    <p:extLst>
      <p:ext uri="{BB962C8B-B14F-4D97-AF65-F5344CB8AC3E}">
        <p14:creationId xmlns:p14="http://schemas.microsoft.com/office/powerpoint/2010/main" val="75496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59E21-0155-1F47-8FA9-976A73A877A3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F4F1F"/>
                </a:solidFill>
              </a:rPr>
              <a:t>AGENDA  ·  60 MINUTES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41240-BDA9-654B-8C7B-53876EC2B4BB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 dirty="0"/>
              <a:t>Outline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D0C918-F0E8-BA40-B914-CD4CED464862}"/>
              </a:ext>
            </a:extLst>
          </p:cNvPr>
          <p:cNvSpPr/>
          <p:nvPr/>
        </p:nvSpPr>
        <p:spPr>
          <a:xfrm>
            <a:off x="762000" y="2032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ED39F-0334-B44F-86E0-CDB0AC880F8C}"/>
              </a:ext>
            </a:extLst>
          </p:cNvPr>
          <p:cNvSpPr txBox="1"/>
          <p:nvPr/>
        </p:nvSpPr>
        <p:spPr>
          <a:xfrm>
            <a:off x="1397000" y="2082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0E1116"/>
                </a:solidFill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992A3-D9A7-A94A-B76D-7D7B8BAB6654}"/>
              </a:ext>
            </a:extLst>
          </p:cNvPr>
          <p:cNvSpPr txBox="1"/>
          <p:nvPr/>
        </p:nvSpPr>
        <p:spPr>
          <a:xfrm>
            <a:off x="6350000" y="2108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F2937"/>
                </a:solidFill>
              </a:rPr>
              <a:t>The one idea that holds it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C42D0-CB32-EC4D-BD98-4C652D60CBF4}"/>
              </a:ext>
            </a:extLst>
          </p:cNvPr>
          <p:cNvSpPr txBox="1"/>
          <p:nvPr/>
        </p:nvSpPr>
        <p:spPr>
          <a:xfrm>
            <a:off x="10160000" y="2108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4F1F"/>
                </a:solidFill>
              </a:rPr>
              <a:t>5 min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153755-3D3F-E64B-B924-A165FDBE015C}"/>
              </a:ext>
            </a:extLst>
          </p:cNvPr>
          <p:cNvSpPr/>
          <p:nvPr/>
        </p:nvSpPr>
        <p:spPr>
          <a:xfrm>
            <a:off x="762000" y="2667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57CF4-FAB6-7045-ACD4-D65E7A948DCF}"/>
              </a:ext>
            </a:extLst>
          </p:cNvPr>
          <p:cNvSpPr txBox="1"/>
          <p:nvPr/>
        </p:nvSpPr>
        <p:spPr>
          <a:xfrm>
            <a:off x="1397000" y="2717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Prompting essentials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F3EF1-6A65-7F47-899E-4FE841218861}"/>
              </a:ext>
            </a:extLst>
          </p:cNvPr>
          <p:cNvSpPr txBox="1"/>
          <p:nvPr/>
        </p:nvSpPr>
        <p:spPr>
          <a:xfrm>
            <a:off x="6350000" y="2743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Four habits + bad-vs-good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AFA8-0F18-B34C-8844-F7C67EE3F5AA}"/>
              </a:ext>
            </a:extLst>
          </p:cNvPr>
          <p:cNvSpPr txBox="1"/>
          <p:nvPr/>
        </p:nvSpPr>
        <p:spPr>
          <a:xfrm>
            <a:off x="10160000" y="2743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8 min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A68128-232E-4D42-9713-93EEE4F641D6}"/>
              </a:ext>
            </a:extLst>
          </p:cNvPr>
          <p:cNvSpPr/>
          <p:nvPr/>
        </p:nvSpPr>
        <p:spPr>
          <a:xfrm>
            <a:off x="762000" y="3302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F2410-1547-724F-B2A4-145F4B24D004}"/>
              </a:ext>
            </a:extLst>
          </p:cNvPr>
          <p:cNvSpPr txBox="1"/>
          <p:nvPr/>
        </p:nvSpPr>
        <p:spPr>
          <a:xfrm>
            <a:off x="1397000" y="3352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Context files: the project's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5559F3-DA7C-B34D-8A0E-FED2EA7A5253}"/>
              </a:ext>
            </a:extLst>
          </p:cNvPr>
          <p:cNvSpPr txBox="1"/>
          <p:nvPr/>
        </p:nvSpPr>
        <p:spPr>
          <a:xfrm>
            <a:off x="6350000" y="3378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CLAUDE.md, AGENTS.md, scoped rules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16294-BE0B-BE47-9E84-820232C1AA8A}"/>
              </a:ext>
            </a:extLst>
          </p:cNvPr>
          <p:cNvSpPr txBox="1"/>
          <p:nvPr/>
        </p:nvSpPr>
        <p:spPr>
          <a:xfrm>
            <a:off x="10160000" y="3378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12 min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F34CCF-022A-7040-BE9F-E21A4E0ADFDA}"/>
              </a:ext>
            </a:extLst>
          </p:cNvPr>
          <p:cNvSpPr/>
          <p:nvPr/>
        </p:nvSpPr>
        <p:spPr>
          <a:xfrm>
            <a:off x="762000" y="3937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8FB4E0-A882-8141-9740-7756B0900E22}"/>
              </a:ext>
            </a:extLst>
          </p:cNvPr>
          <p:cNvSpPr txBox="1"/>
          <p:nvPr/>
        </p:nvSpPr>
        <p:spPr>
          <a:xfrm>
            <a:off x="1397000" y="3987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Spec → generate →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26271A-BC4F-2F44-A216-C7E570E5C52D}"/>
              </a:ext>
            </a:extLst>
          </p:cNvPr>
          <p:cNvSpPr txBox="1"/>
          <p:nvPr/>
        </p:nvSpPr>
        <p:spPr>
          <a:xfrm>
            <a:off x="6350000" y="4013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The core loop, plus Superpowers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F4CE59-1C4B-484E-9558-4D446E0E5469}"/>
              </a:ext>
            </a:extLst>
          </p:cNvPr>
          <p:cNvSpPr txBox="1"/>
          <p:nvPr/>
        </p:nvSpPr>
        <p:spPr>
          <a:xfrm>
            <a:off x="10160000" y="4013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17 min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1351C-CF07-5748-A2D5-38E9BA8736F1}"/>
              </a:ext>
            </a:extLst>
          </p:cNvPr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F15C2-E5AC-B246-B204-F81C5E621B06}"/>
              </a:ext>
            </a:extLst>
          </p:cNvPr>
          <p:cNvSpPr txBox="1"/>
          <p:nvPr/>
        </p:nvSpPr>
        <p:spPr>
          <a:xfrm>
            <a:off x="1397000" y="4622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Hands-on practice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E0A115-9F05-464D-B4AE-4FDEC50C0E3A}"/>
              </a:ext>
            </a:extLst>
          </p:cNvPr>
          <p:cNvSpPr txBox="1"/>
          <p:nvPr/>
        </p:nvSpPr>
        <p:spPr>
          <a:xfrm>
            <a:off x="6350000" y="4648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Run the loop on a seeded repo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CB5BA9-20A2-CE46-8568-BAB924547EE1}"/>
              </a:ext>
            </a:extLst>
          </p:cNvPr>
          <p:cNvSpPr txBox="1"/>
          <p:nvPr/>
        </p:nvSpPr>
        <p:spPr>
          <a:xfrm>
            <a:off x="10160000" y="4648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10 min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6E7936-5629-5F4B-A03D-D5AFA1C2B355}"/>
              </a:ext>
            </a:extLst>
          </p:cNvPr>
          <p:cNvSpPr/>
          <p:nvPr/>
        </p:nvSpPr>
        <p:spPr>
          <a:xfrm>
            <a:off x="762000" y="5207000"/>
            <a:ext cx="457200" cy="4572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FAFA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C8722-A70E-5247-999D-6C6330E6E8B1}"/>
              </a:ext>
            </a:extLst>
          </p:cNvPr>
          <p:cNvSpPr txBox="1"/>
          <p:nvPr/>
        </p:nvSpPr>
        <p:spPr>
          <a:xfrm>
            <a:off x="1397000" y="5257800"/>
            <a:ext cx="482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1116"/>
                </a:solidFill>
              </a:rPr>
              <a:t>Q&amp;A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E709A0-15AE-C146-A30F-58462005E245}"/>
              </a:ext>
            </a:extLst>
          </p:cNvPr>
          <p:cNvSpPr txBox="1"/>
          <p:nvPr/>
        </p:nvSpPr>
        <p:spPr>
          <a:xfrm>
            <a:off x="6350000" y="5283200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Anything goes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42129E-25A7-9546-8366-7AEDE9A4840D}"/>
              </a:ext>
            </a:extLst>
          </p:cNvPr>
          <p:cNvSpPr txBox="1"/>
          <p:nvPr/>
        </p:nvSpPr>
        <p:spPr>
          <a:xfrm>
            <a:off x="10160000" y="5283200"/>
            <a:ext cx="127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8 min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BBDB9-8436-2642-AF70-77CB187D5242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01</a:t>
            </a:r>
          </a:p>
        </p:txBody>
      </p:sp>
    </p:spTree>
    <p:extLst>
      <p:ext uri="{BB962C8B-B14F-4D97-AF65-F5344CB8AC3E}">
        <p14:creationId xmlns:p14="http://schemas.microsoft.com/office/powerpoint/2010/main" val="351016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A8E70-ED39-9343-922D-D6C7842A2728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PART 01  ·  AUDIENCE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894B3-CCE7-114C-B205-FDD38C7C9135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E1116"/>
                </a:solidFill>
              </a:rPr>
              <a:t>Quick show of hands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36710F-5BD0-D043-AD82-88CC18611B04}"/>
              </a:ext>
            </a:extLst>
          </p:cNvPr>
          <p:cNvSpPr/>
          <p:nvPr/>
        </p:nvSpPr>
        <p:spPr>
          <a:xfrm>
            <a:off x="762000" y="21590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DA52E5-9058-6A4B-B1D2-14D47BC45916}"/>
              </a:ext>
            </a:extLst>
          </p:cNvPr>
          <p:cNvSpPr/>
          <p:nvPr/>
        </p:nvSpPr>
        <p:spPr>
          <a:xfrm>
            <a:off x="1066800" y="2438400"/>
            <a:ext cx="254000" cy="254000"/>
          </a:xfrm>
          <a:prstGeom prst="ellipse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03AFE-AE94-DB47-9107-4AD9FFF50458}"/>
              </a:ext>
            </a:extLst>
          </p:cNvPr>
          <p:cNvSpPr txBox="1"/>
          <p:nvPr/>
        </p:nvSpPr>
        <p:spPr>
          <a:xfrm>
            <a:off x="1574800" y="2387600"/>
            <a:ext cx="762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GitHub Copilot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9BDF2-85A4-4448-9511-D751F8FED1B2}"/>
              </a:ext>
            </a:extLst>
          </p:cNvPr>
          <p:cNvSpPr txBox="1"/>
          <p:nvPr/>
        </p:nvSpPr>
        <p:spPr>
          <a:xfrm>
            <a:off x="9144000" y="24384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Raise your hand 🖐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68FF2-419D-A445-A82F-E326FEE4E607}"/>
              </a:ext>
            </a:extLst>
          </p:cNvPr>
          <p:cNvSpPr/>
          <p:nvPr/>
        </p:nvSpPr>
        <p:spPr>
          <a:xfrm>
            <a:off x="762000" y="31242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C712D5-4F00-D34A-A93E-AB32995C5433}"/>
              </a:ext>
            </a:extLst>
          </p:cNvPr>
          <p:cNvSpPr/>
          <p:nvPr/>
        </p:nvSpPr>
        <p:spPr>
          <a:xfrm>
            <a:off x="1066800" y="3403600"/>
            <a:ext cx="254000" cy="254000"/>
          </a:xfrm>
          <a:prstGeom prst="ellipse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BB3CC-5878-0441-8C20-1595E184E3CB}"/>
              </a:ext>
            </a:extLst>
          </p:cNvPr>
          <p:cNvSpPr txBox="1"/>
          <p:nvPr/>
        </p:nvSpPr>
        <p:spPr>
          <a:xfrm>
            <a:off x="1574800" y="3352800"/>
            <a:ext cx="762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>
                <a:solidFill>
                  <a:srgbClr val="0E1116"/>
                </a:solidFill>
              </a:rPr>
              <a:t>Cursor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25D14-1455-1141-9171-CB71CF60C5F4}"/>
              </a:ext>
            </a:extLst>
          </p:cNvPr>
          <p:cNvSpPr txBox="1"/>
          <p:nvPr/>
        </p:nvSpPr>
        <p:spPr>
          <a:xfrm>
            <a:off x="9144000" y="3403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Raise your hand 🖐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3FBB5-E884-7E4F-BF9C-4BFC7DDB2365}"/>
              </a:ext>
            </a:extLst>
          </p:cNvPr>
          <p:cNvSpPr/>
          <p:nvPr/>
        </p:nvSpPr>
        <p:spPr>
          <a:xfrm>
            <a:off x="762000" y="40894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E8DF82-2124-B640-B6EC-78291501D922}"/>
              </a:ext>
            </a:extLst>
          </p:cNvPr>
          <p:cNvSpPr/>
          <p:nvPr/>
        </p:nvSpPr>
        <p:spPr>
          <a:xfrm>
            <a:off x="1066800" y="4368800"/>
            <a:ext cx="254000" cy="254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1A970-3462-4A4C-B885-031D6006FFE7}"/>
              </a:ext>
            </a:extLst>
          </p:cNvPr>
          <p:cNvSpPr txBox="1"/>
          <p:nvPr/>
        </p:nvSpPr>
        <p:spPr>
          <a:xfrm>
            <a:off x="1574800" y="4318000"/>
            <a:ext cx="762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Claude (any version)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468D3-C620-974D-8927-B8E0F2017125}"/>
              </a:ext>
            </a:extLst>
          </p:cNvPr>
          <p:cNvSpPr txBox="1"/>
          <p:nvPr/>
        </p:nvSpPr>
        <p:spPr>
          <a:xfrm>
            <a:off x="9144000" y="43688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Raise your hand 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FEFB5F-DD0B-0147-ADAF-56CA1DA5D39F}"/>
              </a:ext>
            </a:extLst>
          </p:cNvPr>
          <p:cNvSpPr/>
          <p:nvPr/>
        </p:nvSpPr>
        <p:spPr>
          <a:xfrm>
            <a:off x="762000" y="50546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53D27A-D4E1-3A4E-93F7-F80EA76899EA}"/>
              </a:ext>
            </a:extLst>
          </p:cNvPr>
          <p:cNvSpPr/>
          <p:nvPr/>
        </p:nvSpPr>
        <p:spPr>
          <a:xfrm>
            <a:off x="1066800" y="5334000"/>
            <a:ext cx="254000" cy="254000"/>
          </a:xfrm>
          <a:prstGeom prst="ellipse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94AA58-8A37-6A41-9B9C-069027A59FC9}"/>
              </a:ext>
            </a:extLst>
          </p:cNvPr>
          <p:cNvSpPr txBox="1"/>
          <p:nvPr/>
        </p:nvSpPr>
        <p:spPr>
          <a:xfrm>
            <a:off x="1574800" y="5283200"/>
            <a:ext cx="762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Never used an AI coding tool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32FA4B-79E6-A048-849A-2194B95375A9}"/>
              </a:ext>
            </a:extLst>
          </p:cNvPr>
          <p:cNvSpPr txBox="1"/>
          <p:nvPr/>
        </p:nvSpPr>
        <p:spPr>
          <a:xfrm>
            <a:off x="9144000" y="53340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Raise your hand 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854844-5C04-CA45-BD11-04145476E1A3}"/>
              </a:ext>
            </a:extLst>
          </p:cNvPr>
          <p:cNvSpPr txBox="1"/>
          <p:nvPr/>
        </p:nvSpPr>
        <p:spPr>
          <a:xfrm>
            <a:off x="762000" y="6096000"/>
            <a:ext cx="1066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1F2937"/>
                </a:solidFill>
              </a:rPr>
              <a:t>This helps me adjust the talk. If most of you haven't used these tools, we'll go slower in the next part.</a:t>
            </a:r>
          </a:p>
        </p:txBody>
      </p:sp>
    </p:spTree>
    <p:extLst>
      <p:ext uri="{BB962C8B-B14F-4D97-AF65-F5344CB8AC3E}">
        <p14:creationId xmlns:p14="http://schemas.microsoft.com/office/powerpoint/2010/main" val="319181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488D86-FABB-C244-939A-05DF0E794EAC}"/>
              </a:ext>
            </a:extLst>
          </p:cNvPr>
          <p:cNvSpPr/>
          <p:nvPr/>
        </p:nvSpPr>
        <p:spPr>
          <a:xfrm>
            <a:off x="0" y="0"/>
            <a:ext cx="12192000" cy="65532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96FCA-4528-F846-ADCA-B1BD59B9B434}"/>
              </a:ext>
            </a:extLst>
          </p:cNvPr>
          <p:cNvSpPr txBox="1"/>
          <p:nvPr/>
        </p:nvSpPr>
        <p:spPr>
          <a:xfrm>
            <a:off x="1016000" y="2032000"/>
            <a:ext cx="1016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THE ONE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1988D-D737-4A49-85A6-52C47D8F9A9D}"/>
              </a:ext>
            </a:extLst>
          </p:cNvPr>
          <p:cNvSpPr txBox="1"/>
          <p:nvPr/>
        </p:nvSpPr>
        <p:spPr>
          <a:xfrm>
            <a:off x="1016000" y="2540000"/>
            <a:ext cx="10160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>
                <a:solidFill>
                  <a:srgbClr val="FAFAFA"/>
                </a:solidFill>
              </a:rPr>
              <a:t>Context isn't optional. Context is the whole job.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4F2C0-D465-FF41-BB66-11C39001CB22}"/>
              </a:ext>
            </a:extLst>
          </p:cNvPr>
          <p:cNvSpPr txBox="1"/>
          <p:nvPr/>
        </p:nvSpPr>
        <p:spPr>
          <a:xfrm>
            <a:off x="1016000" y="4318000"/>
            <a:ext cx="10160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>
                <a:solidFill>
                  <a:srgbClr val="E5E7EB"/>
                </a:solidFill>
              </a:rPr>
              <a:t>Context is not a nice-to-have. It is the product. Everything in this workshop follows from that.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D2A12-EEA8-684B-8765-4454AEB4F5FC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01</a:t>
            </a:r>
          </a:p>
        </p:txBody>
      </p:sp>
    </p:spTree>
    <p:extLst>
      <p:ext uri="{BB962C8B-B14F-4D97-AF65-F5344CB8AC3E}">
        <p14:creationId xmlns:p14="http://schemas.microsoft.com/office/powerpoint/2010/main" val="340290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06CA8-96EE-4B48-BD49-8B99BC03DB66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THE SPINE OF THE TALK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7B427-F32A-E242-AFB7-7C57512F449C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/>
              <a:t>Five core principles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18AD1-74CC-BA45-8BC6-24EE6734BAB2}"/>
              </a:ext>
            </a:extLst>
          </p:cNvPr>
          <p:cNvSpPr txBox="1"/>
          <p:nvPr/>
        </p:nvSpPr>
        <p:spPr>
          <a:xfrm>
            <a:off x="762000" y="2032000"/>
            <a:ext cx="76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4F1F"/>
                </a:solidFill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DF5C3-20AC-2E44-9969-76972B3E06A3}"/>
              </a:ext>
            </a:extLst>
          </p:cNvPr>
          <p:cNvSpPr txBox="1"/>
          <p:nvPr/>
        </p:nvSpPr>
        <p:spPr>
          <a:xfrm>
            <a:off x="1651000" y="2127956"/>
            <a:ext cx="457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/>
              <a:t>No memory between sessions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3EF2D-9DE0-424F-9545-1209166A8F91}"/>
              </a:ext>
            </a:extLst>
          </p:cNvPr>
          <p:cNvSpPr txBox="1"/>
          <p:nvPr/>
        </p:nvSpPr>
        <p:spPr>
          <a:xfrm>
            <a:off x="6350000" y="21336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Context is the product. Add it or protect 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266A4-84FA-F84A-BD24-7127B65AC53A}"/>
              </a:ext>
            </a:extLst>
          </p:cNvPr>
          <p:cNvSpPr txBox="1"/>
          <p:nvPr/>
        </p:nvSpPr>
        <p:spPr>
          <a:xfrm>
            <a:off x="762000" y="2857500"/>
            <a:ext cx="76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4F1F"/>
                </a:solidFill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052E0-22CE-FE4E-80F8-9DD5002A2763}"/>
              </a:ext>
            </a:extLst>
          </p:cNvPr>
          <p:cNvSpPr txBox="1"/>
          <p:nvPr/>
        </p:nvSpPr>
        <p:spPr>
          <a:xfrm>
            <a:off x="1651000" y="2953456"/>
            <a:ext cx="457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/>
              <a:t>Spec before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B0278-1204-824C-85F0-AADBEB6F63A7}"/>
              </a:ext>
            </a:extLst>
          </p:cNvPr>
          <p:cNvSpPr txBox="1"/>
          <p:nvPr/>
        </p:nvSpPr>
        <p:spPr>
          <a:xfrm>
            <a:off x="6350000" y="29591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What, why, constraints, what-not-to-do, references.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67487-DE6B-3045-B1EB-6165A7ED736C}"/>
              </a:ext>
            </a:extLst>
          </p:cNvPr>
          <p:cNvSpPr txBox="1"/>
          <p:nvPr/>
        </p:nvSpPr>
        <p:spPr>
          <a:xfrm>
            <a:off x="762000" y="3683000"/>
            <a:ext cx="76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4F1F"/>
                </a:solidFill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F0C92-B253-3543-8CC1-585BA1512F99}"/>
              </a:ext>
            </a:extLst>
          </p:cNvPr>
          <p:cNvSpPr txBox="1"/>
          <p:nvPr/>
        </p:nvSpPr>
        <p:spPr>
          <a:xfrm>
            <a:off x="1651000" y="3733800"/>
            <a:ext cx="4572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 err="1"/>
              <a:t>CLAUDE.md</a:t>
            </a:r>
            <a:r>
              <a:rPr lang="en-US" sz="2200" b="1" dirty="0"/>
              <a:t> (or </a:t>
            </a:r>
            <a:r>
              <a:rPr lang="en-US" sz="2200" b="1" dirty="0" err="1"/>
              <a:t>AGENTS.md</a:t>
            </a:r>
            <a:r>
              <a:rPr lang="en-US" sz="2200" b="1" dirty="0"/>
              <a:t>) is the shared brain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7D3E1-2D3E-604D-9F19-2187D6B2228D}"/>
              </a:ext>
            </a:extLst>
          </p:cNvPr>
          <p:cNvSpPr txBox="1"/>
          <p:nvPr/>
        </p:nvSpPr>
        <p:spPr>
          <a:xfrm>
            <a:off x="6350000" y="37846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Treat it like a README, for the AI.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3DC07-2701-C144-9F14-84CAEA8915F9}"/>
              </a:ext>
            </a:extLst>
          </p:cNvPr>
          <p:cNvSpPr txBox="1"/>
          <p:nvPr/>
        </p:nvSpPr>
        <p:spPr>
          <a:xfrm>
            <a:off x="762000" y="4508500"/>
            <a:ext cx="76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4F1F"/>
                </a:solidFill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91C96-EE83-3040-9BF8-90F8BCD9CCB5}"/>
              </a:ext>
            </a:extLst>
          </p:cNvPr>
          <p:cNvSpPr txBox="1"/>
          <p:nvPr/>
        </p:nvSpPr>
        <p:spPr>
          <a:xfrm>
            <a:off x="1651000" y="4627034"/>
            <a:ext cx="457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/>
              <a:t>Review is not optional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F0FA4-9D57-C44E-9BB5-AB43091216E1}"/>
              </a:ext>
            </a:extLst>
          </p:cNvPr>
          <p:cNvSpPr txBox="1"/>
          <p:nvPr/>
        </p:nvSpPr>
        <p:spPr>
          <a:xfrm>
            <a:off x="6350000" y="4610100"/>
            <a:ext cx="508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AI writes wrong code that looks correct — and sounds sure of itself.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B4555-54C5-0743-937D-6DB7C0142848}"/>
              </a:ext>
            </a:extLst>
          </p:cNvPr>
          <p:cNvSpPr txBox="1"/>
          <p:nvPr/>
        </p:nvSpPr>
        <p:spPr>
          <a:xfrm>
            <a:off x="762000" y="5334000"/>
            <a:ext cx="76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4F1F"/>
                </a:solidFill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47D22B-EF37-7440-BD56-49D0F65A680D}"/>
              </a:ext>
            </a:extLst>
          </p:cNvPr>
          <p:cNvSpPr txBox="1"/>
          <p:nvPr/>
        </p:nvSpPr>
        <p:spPr>
          <a:xfrm>
            <a:off x="1651000" y="5463823"/>
            <a:ext cx="457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/>
              <a:t>Plans belong in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C1F7E-1DE0-CA48-BB2F-A36C25650E9D}"/>
              </a:ext>
            </a:extLst>
          </p:cNvPr>
          <p:cNvSpPr txBox="1"/>
          <p:nvPr/>
        </p:nvSpPr>
        <p:spPr>
          <a:xfrm>
            <a:off x="6350000" y="54356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Chats disappear. Commits stay. Decisions get committed.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AA946-8AEC-2241-A910-5E3A4581DC8D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01</a:t>
            </a:r>
          </a:p>
        </p:txBody>
      </p:sp>
    </p:spTree>
    <p:extLst>
      <p:ext uri="{BB962C8B-B14F-4D97-AF65-F5344CB8AC3E}">
        <p14:creationId xmlns:p14="http://schemas.microsoft.com/office/powerpoint/2010/main" val="210454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37049-75F7-1746-9ADC-412699D85000}"/>
              </a:ext>
            </a:extLst>
          </p:cNvPr>
          <p:cNvSpPr txBox="1"/>
          <p:nvPr/>
        </p:nvSpPr>
        <p:spPr>
          <a:xfrm>
            <a:off x="762000" y="2032000"/>
            <a:ext cx="3048000" cy="279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0000" b="1">
                <a:solidFill>
                  <a:srgbClr val="FF4F1F"/>
                </a:solidFill>
              </a:rPr>
              <a:t>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99AEA-EAE5-204D-AEA2-8BE912DC3D5D}"/>
              </a:ext>
            </a:extLst>
          </p:cNvPr>
          <p:cNvSpPr txBox="1"/>
          <p:nvPr/>
        </p:nvSpPr>
        <p:spPr>
          <a:xfrm>
            <a:off x="4064000" y="25400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PART 02  ·  8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766DF-42C9-4E47-BC3C-8610992ECA01}"/>
              </a:ext>
            </a:extLst>
          </p:cNvPr>
          <p:cNvSpPr txBox="1"/>
          <p:nvPr/>
        </p:nvSpPr>
        <p:spPr>
          <a:xfrm>
            <a:off x="4064000" y="2921000"/>
            <a:ext cx="7366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/>
              <a:t>Prompting essentials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3DD8-B900-5248-B6EF-DE25FE8C0DEE}"/>
              </a:ext>
            </a:extLst>
          </p:cNvPr>
          <p:cNvSpPr txBox="1"/>
          <p:nvPr/>
        </p:nvSpPr>
        <p:spPr>
          <a:xfrm>
            <a:off x="4064000" y="4064000"/>
            <a:ext cx="736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1F2937"/>
                </a:solidFill>
              </a:rPr>
              <a:t>Four habits that separate wasted time from useful output.</a:t>
            </a:r>
          </a:p>
        </p:txBody>
      </p:sp>
    </p:spTree>
    <p:extLst>
      <p:ext uri="{BB962C8B-B14F-4D97-AF65-F5344CB8AC3E}">
        <p14:creationId xmlns:p14="http://schemas.microsoft.com/office/powerpoint/2010/main" val="78394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8EE0F-D009-8344-9E94-991BEE57AB69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FOUR HABITS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631DA-525D-714A-B459-2C6ECEC0E35D}"/>
              </a:ext>
            </a:extLst>
          </p:cNvPr>
          <p:cNvSpPr txBox="1"/>
          <p:nvPr/>
        </p:nvSpPr>
        <p:spPr>
          <a:xfrm>
            <a:off x="762000" y="10160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How to prompt without wasting half your session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2197C-66B3-4F46-AE33-D3DBAF37B921}"/>
              </a:ext>
            </a:extLst>
          </p:cNvPr>
          <p:cNvSpPr/>
          <p:nvPr/>
        </p:nvSpPr>
        <p:spPr>
          <a:xfrm>
            <a:off x="762000" y="1968500"/>
            <a:ext cx="50800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ACFD0-3406-134D-8285-81DD1BE3A88A}"/>
              </a:ext>
            </a:extLst>
          </p:cNvPr>
          <p:cNvSpPr txBox="1"/>
          <p:nvPr/>
        </p:nvSpPr>
        <p:spPr>
          <a:xfrm>
            <a:off x="1016000" y="2146300"/>
            <a:ext cx="76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B670A-B6E0-7241-A5DC-48C3D6CB47C1}"/>
              </a:ext>
            </a:extLst>
          </p:cNvPr>
          <p:cNvSpPr txBox="1"/>
          <p:nvPr/>
        </p:nvSpPr>
        <p:spPr>
          <a:xfrm>
            <a:off x="1016000" y="24511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Be specific about what AND why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C5828-5841-554D-AE5C-A7616760E31B}"/>
              </a:ext>
            </a:extLst>
          </p:cNvPr>
          <p:cNvSpPr txBox="1"/>
          <p:nvPr/>
        </p:nvSpPr>
        <p:spPr>
          <a:xfrm>
            <a:off x="1016000" y="2859084"/>
            <a:ext cx="4572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1F2937"/>
                </a:solidFill>
              </a:rPr>
              <a:t>“Fix this bug” → “Function returns null on empty array; caller expects []. Don’t change the signature.”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A4946-DA66-6143-8242-9B8AB6B1D026}"/>
              </a:ext>
            </a:extLst>
          </p:cNvPr>
          <p:cNvSpPr/>
          <p:nvPr/>
        </p:nvSpPr>
        <p:spPr>
          <a:xfrm>
            <a:off x="6096000" y="1968500"/>
            <a:ext cx="50800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17FA0-30F9-EA45-89B1-9C03832A618C}"/>
              </a:ext>
            </a:extLst>
          </p:cNvPr>
          <p:cNvSpPr txBox="1"/>
          <p:nvPr/>
        </p:nvSpPr>
        <p:spPr>
          <a:xfrm>
            <a:off x="6350000" y="2146300"/>
            <a:ext cx="76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26220-C90D-6D4A-9298-9078ED7149D1}"/>
              </a:ext>
            </a:extLst>
          </p:cNvPr>
          <p:cNvSpPr txBox="1"/>
          <p:nvPr/>
        </p:nvSpPr>
        <p:spPr>
          <a:xfrm>
            <a:off x="6350000" y="24511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Give one example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192CE-551A-004E-929C-6C813177DE2D}"/>
              </a:ext>
            </a:extLst>
          </p:cNvPr>
          <p:cNvSpPr txBox="1"/>
          <p:nvPr/>
        </p:nvSpPr>
        <p:spPr>
          <a:xfrm>
            <a:off x="6350000" y="2873372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1F2937"/>
                </a:solidFill>
              </a:rPr>
              <a:t>One concrete input/output beats three paragraphs of description. Works for code, tone, formatting.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82ED93-2FA8-1D41-AC76-6534658EB9E4}"/>
              </a:ext>
            </a:extLst>
          </p:cNvPr>
          <p:cNvSpPr/>
          <p:nvPr/>
        </p:nvSpPr>
        <p:spPr>
          <a:xfrm>
            <a:off x="762000" y="4064000"/>
            <a:ext cx="50800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5BAD5-7B30-6543-963B-0E3A7E280481}"/>
              </a:ext>
            </a:extLst>
          </p:cNvPr>
          <p:cNvSpPr txBox="1"/>
          <p:nvPr/>
        </p:nvSpPr>
        <p:spPr>
          <a:xfrm>
            <a:off x="1016000" y="4241800"/>
            <a:ext cx="76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1F071-C740-564A-97D9-15D022C16871}"/>
              </a:ext>
            </a:extLst>
          </p:cNvPr>
          <p:cNvSpPr txBox="1"/>
          <p:nvPr/>
        </p:nvSpPr>
        <p:spPr>
          <a:xfrm>
            <a:off x="1016000" y="45466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State constraints and exclusions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839398-927D-9148-A6EC-570906FB8050}"/>
              </a:ext>
            </a:extLst>
          </p:cNvPr>
          <p:cNvSpPr txBox="1"/>
          <p:nvPr/>
        </p:nvSpPr>
        <p:spPr>
          <a:xfrm>
            <a:off x="1016000" y="4968872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1F2937"/>
                </a:solidFill>
              </a:rPr>
              <a:t>“Don’t add new dependencies. Don’t touch auth.” What NOT to do is as valuable as what to do.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40049-4288-B24A-8174-7FEC32AE9B4D}"/>
              </a:ext>
            </a:extLst>
          </p:cNvPr>
          <p:cNvSpPr/>
          <p:nvPr/>
        </p:nvSpPr>
        <p:spPr>
          <a:xfrm>
            <a:off x="6096000" y="4064000"/>
            <a:ext cx="50800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99A576-1F22-EF46-A266-6BB43F4AA97D}"/>
              </a:ext>
            </a:extLst>
          </p:cNvPr>
          <p:cNvSpPr txBox="1"/>
          <p:nvPr/>
        </p:nvSpPr>
        <p:spPr>
          <a:xfrm>
            <a:off x="6350000" y="4241800"/>
            <a:ext cx="76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9CAC9-14B0-C146-A3A9-4531EE238087}"/>
              </a:ext>
            </a:extLst>
          </p:cNvPr>
          <p:cNvSpPr txBox="1"/>
          <p:nvPr/>
        </p:nvSpPr>
        <p:spPr>
          <a:xfrm>
            <a:off x="6350000" y="45466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Iterate, don’t restart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2A977-7781-3E4A-A153-6E649EF18C17}"/>
              </a:ext>
            </a:extLst>
          </p:cNvPr>
          <p:cNvSpPr txBox="1"/>
          <p:nvPr/>
        </p:nvSpPr>
        <p:spPr>
          <a:xfrm>
            <a:off x="6350000" y="4968872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1F2937"/>
                </a:solidFill>
              </a:rPr>
              <a:t>Refine in place. A fresh chat throws away everything the model has learned this session.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729461-AF1F-A841-A69F-95193494A7B5}"/>
              </a:ext>
            </a:extLst>
          </p:cNvPr>
          <p:cNvSpPr/>
          <p:nvPr/>
        </p:nvSpPr>
        <p:spPr>
          <a:xfrm>
            <a:off x="9652000" y="635000"/>
            <a:ext cx="1778000" cy="3556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AFAFA"/>
                </a:solidFill>
              </a:rPr>
              <a:t>🎬 DEMO #1 NEXT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7679D5-1C48-8C4D-B4DA-1EB831D05DDF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02</a:t>
            </a:r>
          </a:p>
        </p:txBody>
      </p:sp>
    </p:spTree>
    <p:extLst>
      <p:ext uri="{BB962C8B-B14F-4D97-AF65-F5344CB8AC3E}">
        <p14:creationId xmlns:p14="http://schemas.microsoft.com/office/powerpoint/2010/main" val="107342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B7750-88A5-5A45-8022-490253D4A50A}"/>
              </a:ext>
            </a:extLst>
          </p:cNvPr>
          <p:cNvSpPr txBox="1"/>
          <p:nvPr/>
        </p:nvSpPr>
        <p:spPr>
          <a:xfrm>
            <a:off x="762000" y="2032000"/>
            <a:ext cx="3048000" cy="279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0000" b="1">
                <a:solidFill>
                  <a:srgbClr val="FF4F1F"/>
                </a:solidFill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7A862-09E7-7B4C-8DD7-E67B1B3DF2D5}"/>
              </a:ext>
            </a:extLst>
          </p:cNvPr>
          <p:cNvSpPr txBox="1"/>
          <p:nvPr/>
        </p:nvSpPr>
        <p:spPr>
          <a:xfrm>
            <a:off x="4064000" y="25400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PART 03  ·  12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DF5E7-2875-604F-97CE-06E275341788}"/>
              </a:ext>
            </a:extLst>
          </p:cNvPr>
          <p:cNvSpPr txBox="1"/>
          <p:nvPr/>
        </p:nvSpPr>
        <p:spPr>
          <a:xfrm>
            <a:off x="4064000" y="2921000"/>
            <a:ext cx="7366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/>
              <a:t>Context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F40EB-A683-0B4B-8612-A6DA6CBAAE73}"/>
              </a:ext>
            </a:extLst>
          </p:cNvPr>
          <p:cNvSpPr txBox="1"/>
          <p:nvPr/>
        </p:nvSpPr>
        <p:spPr>
          <a:xfrm>
            <a:off x="4064000" y="4064000"/>
            <a:ext cx="736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1F2937"/>
                </a:solidFill>
              </a:rPr>
              <a:t>How the AI knows about your project. Every tool. One discipline.</a:t>
            </a:r>
          </a:p>
        </p:txBody>
      </p:sp>
    </p:spTree>
    <p:extLst>
      <p:ext uri="{BB962C8B-B14F-4D97-AF65-F5344CB8AC3E}">
        <p14:creationId xmlns:p14="http://schemas.microsoft.com/office/powerpoint/2010/main" val="264929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07ECEC-01D4-CE49-A4BC-5B4D81897A25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9601E-135E-9541-A06D-219D459793D6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/>
              <a:t>Every new session starts blank.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053AF-80D5-BB46-8660-6A1F7C5B5A52}"/>
              </a:ext>
            </a:extLst>
          </p:cNvPr>
          <p:cNvSpPr txBox="1"/>
          <p:nvPr/>
        </p:nvSpPr>
        <p:spPr>
          <a:xfrm>
            <a:off x="762000" y="18415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1F2937"/>
                </a:solidFill>
              </a:rPr>
              <a:t>You re-explain the stack, the conventions, the gotchas, every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183E3-9028-8148-A426-F099133DAE26}"/>
              </a:ext>
            </a:extLst>
          </p:cNvPr>
          <p:cNvSpPr/>
          <p:nvPr/>
        </p:nvSpPr>
        <p:spPr>
          <a:xfrm>
            <a:off x="762000" y="2540000"/>
            <a:ext cx="5080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CFBBBE-ADEE-2340-A656-B916053FDA22}"/>
              </a:ext>
            </a:extLst>
          </p:cNvPr>
          <p:cNvSpPr/>
          <p:nvPr/>
        </p:nvSpPr>
        <p:spPr>
          <a:xfrm>
            <a:off x="762000" y="2540000"/>
            <a:ext cx="76200" cy="3175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F83E-4101-8C43-95B9-41BECFE66B3D}"/>
              </a:ext>
            </a:extLst>
          </p:cNvPr>
          <p:cNvSpPr txBox="1"/>
          <p:nvPr/>
        </p:nvSpPr>
        <p:spPr>
          <a:xfrm>
            <a:off x="1066800" y="27686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1116"/>
                </a:solidFill>
              </a:rPr>
              <a:t>WITHOUT a context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4E3D7-0450-4846-A604-FC5C8AF168BE}"/>
              </a:ext>
            </a:extLst>
          </p:cNvPr>
          <p:cNvSpPr txBox="1"/>
          <p:nvPr/>
        </p:nvSpPr>
        <p:spPr>
          <a:xfrm>
            <a:off x="1066800" y="32512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Re-explain the project on every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8B4D6-A543-B541-AA67-322E2D8471FF}"/>
              </a:ext>
            </a:extLst>
          </p:cNvPr>
          <p:cNvSpPr txBox="1"/>
          <p:nvPr/>
        </p:nvSpPr>
        <p:spPr>
          <a:xfrm>
            <a:off x="1066800" y="37846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AI guesses your stack, your style, your gotchas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58612-98D9-474E-A644-B46951B79E13}"/>
              </a:ext>
            </a:extLst>
          </p:cNvPr>
          <p:cNvSpPr txBox="1"/>
          <p:nvPr/>
        </p:nvSpPr>
        <p:spPr>
          <a:xfrm>
            <a:off x="1066800" y="43180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Same mistake, every new session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E1DD2-F1FC-0A40-BFF9-B882652E7BB6}"/>
              </a:ext>
            </a:extLst>
          </p:cNvPr>
          <p:cNvSpPr txBox="1"/>
          <p:nvPr/>
        </p:nvSpPr>
        <p:spPr>
          <a:xfrm>
            <a:off x="1066800" y="48514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You waste tokens explaining the same thing again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4D5BF2-657A-174D-B74C-D294ABD9B207}"/>
              </a:ext>
            </a:extLst>
          </p:cNvPr>
          <p:cNvSpPr/>
          <p:nvPr/>
        </p:nvSpPr>
        <p:spPr>
          <a:xfrm>
            <a:off x="6096000" y="2540000"/>
            <a:ext cx="5080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AC248-3783-9846-89A6-1FC9718DD4BE}"/>
              </a:ext>
            </a:extLst>
          </p:cNvPr>
          <p:cNvSpPr/>
          <p:nvPr/>
        </p:nvSpPr>
        <p:spPr>
          <a:xfrm>
            <a:off x="6096000" y="2540000"/>
            <a:ext cx="76200" cy="3175000"/>
          </a:xfrm>
          <a:prstGeom prst="rect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9C440-1E59-0844-9BA9-FE7227446174}"/>
              </a:ext>
            </a:extLst>
          </p:cNvPr>
          <p:cNvSpPr txBox="1"/>
          <p:nvPr/>
        </p:nvSpPr>
        <p:spPr>
          <a:xfrm>
            <a:off x="6400800" y="27686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WITH a context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3BCB6-5D66-084A-8C50-84EA325242BF}"/>
              </a:ext>
            </a:extLst>
          </p:cNvPr>
          <p:cNvSpPr txBox="1"/>
          <p:nvPr/>
        </p:nvSpPr>
        <p:spPr>
          <a:xfrm>
            <a:off x="6400800" y="32512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Project memory loaded automatically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BF0C9-079E-894E-9E0F-06A76DDE5C7A}"/>
              </a:ext>
            </a:extLst>
          </p:cNvPr>
          <p:cNvSpPr txBox="1"/>
          <p:nvPr/>
        </p:nvSpPr>
        <p:spPr>
          <a:xfrm>
            <a:off x="6400800" y="37846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Conventions and constraints up front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67B26-E4BB-3A4B-B5E1-F3B860EBB65D}"/>
              </a:ext>
            </a:extLst>
          </p:cNvPr>
          <p:cNvSpPr txBox="1"/>
          <p:nvPr/>
        </p:nvSpPr>
        <p:spPr>
          <a:xfrm>
            <a:off x="6400800" y="43180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AI starts informed, not from zero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94E65-9C45-C240-8790-27CA76E37F27}"/>
              </a:ext>
            </a:extLst>
          </p:cNvPr>
          <p:cNvSpPr txBox="1"/>
          <p:nvPr/>
        </p:nvSpPr>
        <p:spPr>
          <a:xfrm>
            <a:off x="6400800" y="4851400"/>
            <a:ext cx="457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E1116"/>
                </a:solidFill>
              </a:rPr>
              <a:t>·  Write it once, every session benefits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A0F6CD-A186-DB48-B7B9-403C1F583486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2243467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4F410-0B35-5A40-A0A5-6AAE342769EC}"/>
              </a:ext>
            </a:extLst>
          </p:cNvPr>
          <p:cNvSpPr txBox="1"/>
          <p:nvPr/>
        </p:nvSpPr>
        <p:spPr>
          <a:xfrm>
            <a:off x="762000" y="508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CONTEXT FILES BY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4D73B-B7F6-EC42-B9BC-903255637046}"/>
              </a:ext>
            </a:extLst>
          </p:cNvPr>
          <p:cNvSpPr txBox="1"/>
          <p:nvPr/>
        </p:nvSpPr>
        <p:spPr>
          <a:xfrm>
            <a:off x="762000" y="8636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Same problem. Different filenames.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53187A-EC3D-A74F-9AB4-3E61EB55E31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51000"/>
          <a:ext cx="10668000" cy="464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48933692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18446624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15543858"/>
                    </a:ext>
                  </a:extLst>
                </a:gridCol>
              </a:tblGrid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AFAFA"/>
                          </a:solidFill>
                        </a:rPr>
                        <a:t>Tool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AFAFA"/>
                          </a:solidFill>
                        </a:rPr>
                        <a:t>Project memory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AFAFA"/>
                          </a:solidFill>
                        </a:rPr>
                        <a:t>Scoped rules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733728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Claude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CLAUDE.md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.claude/rules/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847678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Cursor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.cursor/rules/*.mdc · .cursorrules (legacy)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.cursor/rules/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96433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GitHub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.github/copilot-instructions.md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.github/instructions/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158369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Windsurf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.windsurfrules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.windsurf/rules/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864717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Antigravity (Google)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GEMINI.md · AGENTS.md (native)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.agent/rules/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91169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Aider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CONVENTIONS.md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E1116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048903"/>
                  </a:ext>
                </a:extLst>
              </a:tr>
              <a:tr h="58057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AGENTS.md · cross-tool standard</a:t>
                      </a:r>
                    </a:p>
                  </a:txBody>
                  <a:tcPr anchor="ctr">
                    <a:solidFill>
                      <a:srgbClr val="FF4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AGENTS.md</a:t>
                      </a:r>
                    </a:p>
                  </a:txBody>
                  <a:tcPr anchor="ctr">
                    <a:solidFill>
                      <a:srgbClr val="FF4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Linux Foundation · 60k+ repos</a:t>
                      </a:r>
                    </a:p>
                  </a:txBody>
                  <a:tcPr anchor="ctr">
                    <a:solidFill>
                      <a:srgbClr val="FF4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2645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4DA10C-DC05-1A45-BCAF-A9AE4FB35F25}"/>
              </a:ext>
            </a:extLst>
          </p:cNvPr>
          <p:cNvSpPr txBox="1"/>
          <p:nvPr/>
        </p:nvSpPr>
        <p:spPr>
          <a:xfrm>
            <a:off x="762000" y="59690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1F2937"/>
                </a:solidFill>
              </a:rPr>
              <a:t>The filename doesn't matter. The habit is the same everywhere. Write the project's brain down once.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D7886-32A4-E04F-8740-90D7AF8DC7E5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2863840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58E27-42A7-EF43-AE59-CEE793D56EEF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INSIDE A CLAUDE.MD / AGENTS.MD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9EEF7-503D-E54D-8A34-4E7010E5F7E3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/>
              <a:t>A README, for the AI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FECA02-ECD0-F84F-B4F6-A8605E109796}"/>
              </a:ext>
            </a:extLst>
          </p:cNvPr>
          <p:cNvSpPr/>
          <p:nvPr/>
        </p:nvSpPr>
        <p:spPr>
          <a:xfrm>
            <a:off x="762000" y="2006600"/>
            <a:ext cx="127000" cy="127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58734-8536-2741-BBEC-A02315684944}"/>
              </a:ext>
            </a:extLst>
          </p:cNvPr>
          <p:cNvSpPr txBox="1"/>
          <p:nvPr/>
        </p:nvSpPr>
        <p:spPr>
          <a:xfrm>
            <a:off x="1066800" y="19050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C8CE2-4F03-2B42-9769-64776510C1DD}"/>
              </a:ext>
            </a:extLst>
          </p:cNvPr>
          <p:cNvSpPr txBox="1"/>
          <p:nvPr/>
        </p:nvSpPr>
        <p:spPr>
          <a:xfrm>
            <a:off x="1066800" y="22860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What this codebase is. What it does.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71D6B8-0D53-0C4D-8BE1-AD844874F911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14D7A-45D6-1843-8105-711F48D01E08}"/>
              </a:ext>
            </a:extLst>
          </p:cNvPr>
          <p:cNvSpPr txBox="1"/>
          <p:nvPr/>
        </p:nvSpPr>
        <p:spPr>
          <a:xfrm>
            <a:off x="1066800" y="27178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B8EC8-C88C-6344-8B0D-C797B8AAE27E}"/>
              </a:ext>
            </a:extLst>
          </p:cNvPr>
          <p:cNvSpPr txBox="1"/>
          <p:nvPr/>
        </p:nvSpPr>
        <p:spPr>
          <a:xfrm>
            <a:off x="1066800" y="30988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Language, frameworks, database, key libraries.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F375BB-C9FC-E846-93C8-5D74C4E2E75E}"/>
              </a:ext>
            </a:extLst>
          </p:cNvPr>
          <p:cNvSpPr/>
          <p:nvPr/>
        </p:nvSpPr>
        <p:spPr>
          <a:xfrm>
            <a:off x="762000" y="3632200"/>
            <a:ext cx="127000" cy="127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6A7AF-D9BD-1843-BB60-4BBA6FFBD5D3}"/>
              </a:ext>
            </a:extLst>
          </p:cNvPr>
          <p:cNvSpPr txBox="1"/>
          <p:nvPr/>
        </p:nvSpPr>
        <p:spPr>
          <a:xfrm>
            <a:off x="1066800" y="35306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Conventions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AD6F7F-6CC9-BA43-A1E8-43B8E42E9DD1}"/>
              </a:ext>
            </a:extLst>
          </p:cNvPr>
          <p:cNvSpPr txBox="1"/>
          <p:nvPr/>
        </p:nvSpPr>
        <p:spPr>
          <a:xfrm>
            <a:off x="1066800" y="39116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Naming, structure, patterns. Be specific.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5F57F6-24DA-2D49-B0BE-EAC4A8E8F357}"/>
              </a:ext>
            </a:extLst>
          </p:cNvPr>
          <p:cNvSpPr/>
          <p:nvPr/>
        </p:nvSpPr>
        <p:spPr>
          <a:xfrm>
            <a:off x="762000" y="4445000"/>
            <a:ext cx="127000" cy="127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DF1ED3-7899-5048-AA67-9FBA146F6F46}"/>
              </a:ext>
            </a:extLst>
          </p:cNvPr>
          <p:cNvSpPr txBox="1"/>
          <p:nvPr/>
        </p:nvSpPr>
        <p:spPr>
          <a:xfrm>
            <a:off x="1066800" y="43434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What NOT to do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51B9E-950E-D04D-8B78-FD4F61034791}"/>
              </a:ext>
            </a:extLst>
          </p:cNvPr>
          <p:cNvSpPr txBox="1"/>
          <p:nvPr/>
        </p:nvSpPr>
        <p:spPr>
          <a:xfrm>
            <a:off x="1066800" y="47244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Old paths, common traps, past mistakes.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28DC77-8815-574A-A0B9-C5A924E0064D}"/>
              </a:ext>
            </a:extLst>
          </p:cNvPr>
          <p:cNvSpPr/>
          <p:nvPr/>
        </p:nvSpPr>
        <p:spPr>
          <a:xfrm>
            <a:off x="762000" y="5257800"/>
            <a:ext cx="127000" cy="1270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C9ADB1-0A8E-204C-83DD-C33483F8CEF6}"/>
              </a:ext>
            </a:extLst>
          </p:cNvPr>
          <p:cNvSpPr txBox="1"/>
          <p:nvPr/>
        </p:nvSpPr>
        <p:spPr>
          <a:xfrm>
            <a:off x="1066800" y="5156200"/>
            <a:ext cx="4572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Links to scoped rules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CE0B4-5607-5D4E-8B3D-78C8737B66EC}"/>
              </a:ext>
            </a:extLst>
          </p:cNvPr>
          <p:cNvSpPr txBox="1"/>
          <p:nvPr/>
        </p:nvSpPr>
        <p:spPr>
          <a:xfrm>
            <a:off x="1066800" y="55372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Root file stays short. Detail goes deeper.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24C39-E234-104B-AE47-51E28ABFF194}"/>
              </a:ext>
            </a:extLst>
          </p:cNvPr>
          <p:cNvSpPr/>
          <p:nvPr/>
        </p:nvSpPr>
        <p:spPr>
          <a:xfrm>
            <a:off x="6350000" y="1905000"/>
            <a:ext cx="5080000" cy="3810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4C85DF-9365-DC4A-9170-DF6A8D08D0EE}"/>
              </a:ext>
            </a:extLst>
          </p:cNvPr>
          <p:cNvSpPr txBox="1"/>
          <p:nvPr/>
        </p:nvSpPr>
        <p:spPr>
          <a:xfrm>
            <a:off x="6654800" y="2209800"/>
            <a:ext cx="457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RULE OF THUMB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AD8331-6165-EC4D-A2FF-8A2BFCCEDFBC}"/>
              </a:ext>
            </a:extLst>
          </p:cNvPr>
          <p:cNvSpPr txBox="1"/>
          <p:nvPr/>
        </p:nvSpPr>
        <p:spPr>
          <a:xfrm>
            <a:off x="6654800" y="2667000"/>
            <a:ext cx="4572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FAFAFA"/>
                </a:solidFill>
              </a:rPr>
              <a:t>The root context file should fit on one screen.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50576-D6B4-4B4E-B605-7EFBA32BFFCA}"/>
              </a:ext>
            </a:extLst>
          </p:cNvPr>
          <p:cNvSpPr txBox="1"/>
          <p:nvPr/>
        </p:nvSpPr>
        <p:spPr>
          <a:xfrm>
            <a:off x="6654800" y="4572000"/>
            <a:ext cx="457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E5E7EB"/>
                </a:solidFill>
              </a:rPr>
              <a:t>Scoped rule files hold the depth. Keep the entry point readable.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C266AE-0FDF-5B40-BA34-B1B819D85A2A}"/>
              </a:ext>
            </a:extLst>
          </p:cNvPr>
          <p:cNvSpPr/>
          <p:nvPr/>
        </p:nvSpPr>
        <p:spPr>
          <a:xfrm>
            <a:off x="9652000" y="635000"/>
            <a:ext cx="1778000" cy="3556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AFAFA"/>
                </a:solidFill>
              </a:rPr>
              <a:t>🎬 DEMO #2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6EA2DA-1F2F-1E44-B088-A74F08C518EF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255192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2AF5F2-3375-204A-87C5-FF33F3465C4F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USING MULTIPLE AI TOOLS?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AF558-F0ED-0D4B-9678-611760F933AF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E1116"/>
                </a:solidFill>
              </a:rPr>
              <a:t>Don't duplicate your context file.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8BE80-3525-D743-AE59-12528279E870}"/>
              </a:ext>
            </a:extLst>
          </p:cNvPr>
          <p:cNvSpPr/>
          <p:nvPr/>
        </p:nvSpPr>
        <p:spPr>
          <a:xfrm>
            <a:off x="762000" y="2032000"/>
            <a:ext cx="5080000" cy="342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91EAA-C0DD-C44F-93F3-0A7CABC69117}"/>
              </a:ext>
            </a:extLst>
          </p:cNvPr>
          <p:cNvSpPr txBox="1"/>
          <p:nvPr/>
        </p:nvSpPr>
        <p:spPr>
          <a:xfrm>
            <a:off x="1016000" y="2209800"/>
            <a:ext cx="254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OPTION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6F6AD-3B3C-B446-BE4A-78224D6B8ED8}"/>
              </a:ext>
            </a:extLst>
          </p:cNvPr>
          <p:cNvSpPr txBox="1"/>
          <p:nvPr/>
        </p:nvSpPr>
        <p:spPr>
          <a:xfrm>
            <a:off x="1016000" y="2514600"/>
            <a:ext cx="457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0E1116"/>
                </a:solidFill>
              </a:rPr>
              <a:t>Symlink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E5765-4C57-B246-87F3-CAAA9BA46912}"/>
              </a:ext>
            </a:extLst>
          </p:cNvPr>
          <p:cNvSpPr txBox="1"/>
          <p:nvPr/>
        </p:nvSpPr>
        <p:spPr>
          <a:xfrm>
            <a:off x="1016000" y="2971800"/>
            <a:ext cx="457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Mac / Linux. Breaks easily on Windows or mixed teams.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02F3A2-BCD2-9E4D-94A4-7C0A260014E3}"/>
              </a:ext>
            </a:extLst>
          </p:cNvPr>
          <p:cNvSpPr/>
          <p:nvPr/>
        </p:nvSpPr>
        <p:spPr>
          <a:xfrm>
            <a:off x="1016000" y="3556000"/>
            <a:ext cx="4572000" cy="1651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E7EBA-5B95-DC48-A8CF-4120193D18F0}"/>
              </a:ext>
            </a:extLst>
          </p:cNvPr>
          <p:cNvSpPr txBox="1"/>
          <p:nvPr/>
        </p:nvSpPr>
        <p:spPr>
          <a:xfrm>
            <a:off x="1143000" y="3683000"/>
            <a:ext cx="431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E1116"/>
                </a:solidFill>
              </a:rPr>
              <a:t>Only Claude Code needs the symlink. Cursor, Copilot, Antigravity, Windsurf, and Aider read AGENTS.md natively. Don't copy-paste the same content into two files. One will become outdated, and that's the one your AI will read.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3E29A-7D4F-2849-9E09-832AD0A88FD7}"/>
              </a:ext>
            </a:extLst>
          </p:cNvPr>
          <p:cNvSpPr/>
          <p:nvPr/>
        </p:nvSpPr>
        <p:spPr>
          <a:xfrm>
            <a:off x="6350000" y="2032000"/>
            <a:ext cx="5080000" cy="342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F68A4-DCF4-5B43-9ABD-E2664869DE21}"/>
              </a:ext>
            </a:extLst>
          </p:cNvPr>
          <p:cNvSpPr txBox="1"/>
          <p:nvPr/>
        </p:nvSpPr>
        <p:spPr>
          <a:xfrm>
            <a:off x="6604000" y="2209800"/>
            <a:ext cx="254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OPTION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A0005-DAED-9B4B-8553-176808272568}"/>
              </a:ext>
            </a:extLst>
          </p:cNvPr>
          <p:cNvSpPr txBox="1"/>
          <p:nvPr/>
        </p:nvSpPr>
        <p:spPr>
          <a:xfrm>
            <a:off x="6604000" y="2514600"/>
            <a:ext cx="457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0E1116"/>
                </a:solidFill>
              </a:rPr>
              <a:t>Pointer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B3C6C-6F24-3A48-91C4-4F0E681FB7DC}"/>
              </a:ext>
            </a:extLst>
          </p:cNvPr>
          <p:cNvSpPr txBox="1"/>
          <p:nvPr/>
        </p:nvSpPr>
        <p:spPr>
          <a:xfrm>
            <a:off x="6604000" y="2971800"/>
            <a:ext cx="457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Cross-platform. Most portable.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FFD1B-86B1-0C45-A2EC-3652F0D1AF27}"/>
              </a:ext>
            </a:extLst>
          </p:cNvPr>
          <p:cNvSpPr/>
          <p:nvPr/>
        </p:nvSpPr>
        <p:spPr>
          <a:xfrm>
            <a:off x="6604000" y="3556000"/>
            <a:ext cx="4572000" cy="1651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BCF78-F9FE-574E-882B-F7463D1719F1}"/>
              </a:ext>
            </a:extLst>
          </p:cNvPr>
          <p:cNvSpPr txBox="1"/>
          <p:nvPr/>
        </p:nvSpPr>
        <p:spPr>
          <a:xfrm>
            <a:off x="6731000" y="3683000"/>
            <a:ext cx="431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AFAFA"/>
                </a:solidFill>
                <a:latin typeface="Consolas"/>
                <a:cs typeface="Consolas"/>
              </a:rPr>
              <a:t># CLAUDE.md
@AGENTS.md
# or just plain text:
See AGENTS.md for project context.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4E7A2C-694C-4342-93A0-6FDA5D050554}"/>
              </a:ext>
            </a:extLst>
          </p:cNvPr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solidFill>
            <a:srgbClr val="FFF4ED"/>
          </a:solidFill>
          <a:ln w="12700" cap="flat" cmpd="sng" algn="ctr">
            <a:solidFill>
              <a:srgbClr val="FF4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A1C43-24D8-D046-970E-407A34D74CB7}"/>
              </a:ext>
            </a:extLst>
          </p:cNvPr>
          <p:cNvSpPr txBox="1"/>
          <p:nvPr/>
        </p:nvSpPr>
        <p:spPr>
          <a:xfrm>
            <a:off x="1016000" y="5867400"/>
            <a:ext cx="1016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1116"/>
                </a:solidFill>
              </a:rPr>
              <a:t>Only Claude Code needs the symlink. Cursor, Copilot, Antigravity, Windsurf, and Aider read AGENTS.md natively. Don't copy-paste; one file will go stale.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58B9D6-7B03-3E4D-9855-5929E21A50B9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324658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8160C-6774-014E-AC10-ACEDE8626733}"/>
              </a:ext>
            </a:extLst>
          </p:cNvPr>
          <p:cNvSpPr txBox="1"/>
          <p:nvPr/>
        </p:nvSpPr>
        <p:spPr>
          <a:xfrm>
            <a:off x="762000" y="2032000"/>
            <a:ext cx="3048000" cy="279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0000" b="1">
                <a:solidFill>
                  <a:srgbClr val="FF4F1F"/>
                </a:solidFill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E4545-4AAB-6944-BA9C-8C367BFBEE4B}"/>
              </a:ext>
            </a:extLst>
          </p:cNvPr>
          <p:cNvSpPr txBox="1"/>
          <p:nvPr/>
        </p:nvSpPr>
        <p:spPr>
          <a:xfrm>
            <a:off x="4064000" y="25400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PART 04  ·  17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39F7E-9491-124B-BAEA-01604BC8D870}"/>
              </a:ext>
            </a:extLst>
          </p:cNvPr>
          <p:cNvSpPr txBox="1"/>
          <p:nvPr/>
        </p:nvSpPr>
        <p:spPr>
          <a:xfrm>
            <a:off x="4064000" y="2921000"/>
            <a:ext cx="736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/>
              <a:t>Spec → Generate →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C689C-511D-A840-BB48-72564A559D40}"/>
              </a:ext>
            </a:extLst>
          </p:cNvPr>
          <p:cNvSpPr txBox="1"/>
          <p:nvPr/>
        </p:nvSpPr>
        <p:spPr>
          <a:xfrm>
            <a:off x="4064000" y="4064000"/>
            <a:ext cx="7366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1F2937"/>
                </a:solidFill>
              </a:rPr>
              <a:t>The core loop you'll run for every real task.</a:t>
            </a:r>
          </a:p>
        </p:txBody>
      </p:sp>
    </p:spTree>
    <p:extLst>
      <p:ext uri="{BB962C8B-B14F-4D97-AF65-F5344CB8AC3E}">
        <p14:creationId xmlns:p14="http://schemas.microsoft.com/office/powerpoint/2010/main" val="224771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414D9-CFF6-E74E-A33E-E71ECA98ADF5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THE SPEC → GENERATE → REVIEW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D0BAF-4F2D-8E45-B251-35C04E81F1FC}"/>
              </a:ext>
            </a:extLst>
          </p:cNvPr>
          <p:cNvSpPr txBox="1"/>
          <p:nvPr/>
        </p:nvSpPr>
        <p:spPr>
          <a:xfrm>
            <a:off x="762000" y="10160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Three steps. One feedback path.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947AFC-5B07-DB4B-B83B-5067794B59D0}"/>
              </a:ext>
            </a:extLst>
          </p:cNvPr>
          <p:cNvSpPr/>
          <p:nvPr/>
        </p:nvSpPr>
        <p:spPr>
          <a:xfrm>
            <a:off x="825500" y="2159000"/>
            <a:ext cx="31750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111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D31A3-279E-494F-84D1-E5F7DC9DA99F}"/>
              </a:ext>
            </a:extLst>
          </p:cNvPr>
          <p:cNvSpPr txBox="1"/>
          <p:nvPr/>
        </p:nvSpPr>
        <p:spPr>
          <a:xfrm>
            <a:off x="1079500" y="2413000"/>
            <a:ext cx="76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4F1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0FB02-3889-D844-93AE-712F98DB07CC}"/>
              </a:ext>
            </a:extLst>
          </p:cNvPr>
          <p:cNvSpPr txBox="1"/>
          <p:nvPr/>
        </p:nvSpPr>
        <p:spPr>
          <a:xfrm>
            <a:off x="1079500" y="29210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E1116"/>
                </a:solidFill>
              </a:rPr>
              <a:t>SPEC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575B2-647F-3645-80D9-ACB3A86DE6EC}"/>
              </a:ext>
            </a:extLst>
          </p:cNvPr>
          <p:cNvSpPr txBox="1"/>
          <p:nvPr/>
        </p:nvSpPr>
        <p:spPr>
          <a:xfrm>
            <a:off x="1079500" y="3429000"/>
            <a:ext cx="266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1F2937"/>
                </a:solidFill>
              </a:rPr>
              <a:t>(you write)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928F1-D2A0-4349-93EC-547CF5E97332}"/>
              </a:ext>
            </a:extLst>
          </p:cNvPr>
          <p:cNvSpPr txBox="1"/>
          <p:nvPr/>
        </p:nvSpPr>
        <p:spPr>
          <a:xfrm>
            <a:off x="1079500" y="3860800"/>
            <a:ext cx="2667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0E1116"/>
                </a:solidFill>
              </a:rPr>
              <a:t>What, why, constraints, success, out of scope.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AA725B3-0216-DC4D-A3D9-CF3D2E35E4A2}"/>
              </a:ext>
            </a:extLst>
          </p:cNvPr>
          <p:cNvSpPr/>
          <p:nvPr/>
        </p:nvSpPr>
        <p:spPr>
          <a:xfrm>
            <a:off x="4051300" y="3238500"/>
            <a:ext cx="406400" cy="381000"/>
          </a:xfrm>
          <a:prstGeom prst="rightArrow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4ACA37-53C2-064D-90A6-D91595DAFB77}"/>
              </a:ext>
            </a:extLst>
          </p:cNvPr>
          <p:cNvSpPr/>
          <p:nvPr/>
        </p:nvSpPr>
        <p:spPr>
          <a:xfrm>
            <a:off x="4508500" y="2159000"/>
            <a:ext cx="3175000" cy="2540000"/>
          </a:xfrm>
          <a:prstGeom prst="rect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8E4C6-3943-DF44-9213-E9037B0D5A20}"/>
              </a:ext>
            </a:extLst>
          </p:cNvPr>
          <p:cNvSpPr txBox="1"/>
          <p:nvPr/>
        </p:nvSpPr>
        <p:spPr>
          <a:xfrm>
            <a:off x="4762500" y="2413000"/>
            <a:ext cx="76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AFAFA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0E0916-0271-3746-A136-1321FE3A8B99}"/>
              </a:ext>
            </a:extLst>
          </p:cNvPr>
          <p:cNvSpPr txBox="1"/>
          <p:nvPr/>
        </p:nvSpPr>
        <p:spPr>
          <a:xfrm>
            <a:off x="4762500" y="29210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AFAFA"/>
                </a:solidFill>
              </a:rPr>
              <a:t>GENERATE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14D60-0D07-0E4E-9178-4C8D6775009F}"/>
              </a:ext>
            </a:extLst>
          </p:cNvPr>
          <p:cNvSpPr txBox="1"/>
          <p:nvPr/>
        </p:nvSpPr>
        <p:spPr>
          <a:xfrm>
            <a:off x="4762500" y="3429000"/>
            <a:ext cx="266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FFE4D9"/>
                </a:solidFill>
              </a:rPr>
              <a:t>(AI writes)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A5D69F-A73A-134E-B97C-ACF6752126BB}"/>
              </a:ext>
            </a:extLst>
          </p:cNvPr>
          <p:cNvSpPr txBox="1"/>
          <p:nvPr/>
        </p:nvSpPr>
        <p:spPr>
          <a:xfrm>
            <a:off x="4762500" y="3860800"/>
            <a:ext cx="2667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FAFAFA"/>
                </a:solidFill>
              </a:rPr>
              <a:t>Hand the spec to the model. Watch it work.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81E4A03-FBB5-4645-9826-4197E9829896}"/>
              </a:ext>
            </a:extLst>
          </p:cNvPr>
          <p:cNvSpPr/>
          <p:nvPr/>
        </p:nvSpPr>
        <p:spPr>
          <a:xfrm>
            <a:off x="7734300" y="3238500"/>
            <a:ext cx="406400" cy="381000"/>
          </a:xfrm>
          <a:prstGeom prst="rightArrow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88898-A28E-BE4A-B7CF-957DA5DFEACE}"/>
              </a:ext>
            </a:extLst>
          </p:cNvPr>
          <p:cNvSpPr/>
          <p:nvPr/>
        </p:nvSpPr>
        <p:spPr>
          <a:xfrm>
            <a:off x="8191500" y="2159000"/>
            <a:ext cx="31750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111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BF8B46-C4B1-E542-A508-90B9CB44E14C}"/>
              </a:ext>
            </a:extLst>
          </p:cNvPr>
          <p:cNvSpPr txBox="1"/>
          <p:nvPr/>
        </p:nvSpPr>
        <p:spPr>
          <a:xfrm>
            <a:off x="8445500" y="2413000"/>
            <a:ext cx="76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4F1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9E103-E3E6-6C4B-AA43-CCFE78CEBF58}"/>
              </a:ext>
            </a:extLst>
          </p:cNvPr>
          <p:cNvSpPr txBox="1"/>
          <p:nvPr/>
        </p:nvSpPr>
        <p:spPr>
          <a:xfrm>
            <a:off x="8445500" y="29210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E1116"/>
                </a:solidFill>
              </a:rPr>
              <a:t>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9AC51-5FF3-9E45-875B-5B178FC9C05C}"/>
              </a:ext>
            </a:extLst>
          </p:cNvPr>
          <p:cNvSpPr txBox="1"/>
          <p:nvPr/>
        </p:nvSpPr>
        <p:spPr>
          <a:xfrm>
            <a:off x="8445500" y="3429000"/>
            <a:ext cx="266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1F2937"/>
                </a:solidFill>
              </a:rPr>
              <a:t>(you read)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6021E6-C4D5-8544-96F9-4E4FC9D8EFBA}"/>
              </a:ext>
            </a:extLst>
          </p:cNvPr>
          <p:cNvSpPr txBox="1"/>
          <p:nvPr/>
        </p:nvSpPr>
        <p:spPr>
          <a:xfrm>
            <a:off x="8445500" y="3860800"/>
            <a:ext cx="2667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0E1116"/>
                </a:solidFill>
              </a:rPr>
              <a:t>30-second diff catches 90% of the problems.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424BBD-A3DF-F542-A303-0F4E5A5315FF}"/>
              </a:ext>
            </a:extLst>
          </p:cNvPr>
          <p:cNvSpPr txBox="1"/>
          <p:nvPr/>
        </p:nvSpPr>
        <p:spPr>
          <a:xfrm>
            <a:off x="762000" y="5207000"/>
            <a:ext cx="1066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4F1F"/>
                </a:solidFill>
              </a:rPr>
              <a:t>↺  When the output is wrong, fix the SPEC and regenerate. Don't patch the code.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B2988-618B-AD4F-B063-782DAD3F817B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3254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5801E4-A832-2043-9D43-5E77FC29B3DF}"/>
              </a:ext>
            </a:extLst>
          </p:cNvPr>
          <p:cNvSpPr txBox="1"/>
          <p:nvPr/>
        </p:nvSpPr>
        <p:spPr>
          <a:xfrm>
            <a:off x="762000" y="508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ANATOMY OF A SPEC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0765F-231E-2049-B0FD-96B92EEE1EF8}"/>
              </a:ext>
            </a:extLst>
          </p:cNvPr>
          <p:cNvSpPr txBox="1"/>
          <p:nvPr/>
        </p:nvSpPr>
        <p:spPr>
          <a:xfrm>
            <a:off x="762000" y="8636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Five sections. Always.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41D12-19A9-6B4A-8458-D99C6AAFBA05}"/>
              </a:ext>
            </a:extLst>
          </p:cNvPr>
          <p:cNvSpPr/>
          <p:nvPr/>
        </p:nvSpPr>
        <p:spPr>
          <a:xfrm>
            <a:off x="762000" y="1651000"/>
            <a:ext cx="5842000" cy="4445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E7738-07B9-774E-B20B-8653EF9578D9}"/>
              </a:ext>
            </a:extLst>
          </p:cNvPr>
          <p:cNvSpPr txBox="1"/>
          <p:nvPr/>
        </p:nvSpPr>
        <p:spPr>
          <a:xfrm>
            <a:off x="1016000" y="1905000"/>
            <a:ext cx="5334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AFAFA"/>
                </a:solidFill>
                <a:latin typeface="Consolas"/>
                <a:cs typeface="Consolas"/>
              </a:rPr>
              <a:t>## What
One sentence: what are we building?
## Why
One sentence: why does it need to exist?
## Constraints
- Don't do X
- Must preserve Y
- Follow the pattern in &lt;file&gt;
## Success criteria
- How do we know it worked?
## Out of scope
- What explicitly NOT to do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B23979-1CA4-3147-AC5A-985F91C4A3E7}"/>
              </a:ext>
            </a:extLst>
          </p:cNvPr>
          <p:cNvSpPr/>
          <p:nvPr/>
        </p:nvSpPr>
        <p:spPr>
          <a:xfrm>
            <a:off x="6921500" y="1905000"/>
            <a:ext cx="152400" cy="152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10137-6659-B64E-9C47-D9516ACF38E6}"/>
              </a:ext>
            </a:extLst>
          </p:cNvPr>
          <p:cNvSpPr txBox="1"/>
          <p:nvPr/>
        </p:nvSpPr>
        <p:spPr>
          <a:xfrm>
            <a:off x="7239000" y="1778000"/>
            <a:ext cx="4318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"Out of scope" is the stop sign.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B5BD9-46CD-5A47-B164-978B03BDF426}"/>
              </a:ext>
            </a:extLst>
          </p:cNvPr>
          <p:cNvSpPr txBox="1"/>
          <p:nvPr/>
        </p:nvSpPr>
        <p:spPr>
          <a:xfrm>
            <a:off x="7239000" y="2209800"/>
            <a:ext cx="431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It tells the AI what NOT to touch.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02D557-BED8-DD49-9CC4-197A53C7DDF2}"/>
              </a:ext>
            </a:extLst>
          </p:cNvPr>
          <p:cNvSpPr/>
          <p:nvPr/>
        </p:nvSpPr>
        <p:spPr>
          <a:xfrm>
            <a:off x="6921500" y="3302000"/>
            <a:ext cx="152400" cy="152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712DE-29CB-2345-B84A-639048364964}"/>
              </a:ext>
            </a:extLst>
          </p:cNvPr>
          <p:cNvSpPr txBox="1"/>
          <p:nvPr/>
        </p:nvSpPr>
        <p:spPr>
          <a:xfrm>
            <a:off x="7239000" y="3175000"/>
            <a:ext cx="4318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"Out of scope" is the brake.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CFBDC-36A1-8144-A2A0-BB954E025AF1}"/>
              </a:ext>
            </a:extLst>
          </p:cNvPr>
          <p:cNvSpPr txBox="1"/>
          <p:nvPr/>
        </p:nvSpPr>
        <p:spPr>
          <a:xfrm>
            <a:off x="7239000" y="3606800"/>
            <a:ext cx="431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It stops the AI from rewriting half your project.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F34AD1-BFCA-5145-91B8-14D795946F55}"/>
              </a:ext>
            </a:extLst>
          </p:cNvPr>
          <p:cNvSpPr/>
          <p:nvPr/>
        </p:nvSpPr>
        <p:spPr>
          <a:xfrm>
            <a:off x="6921500" y="4699000"/>
            <a:ext cx="152400" cy="152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1C593-B1D2-6E4C-922D-492C13FBC4CF}"/>
              </a:ext>
            </a:extLst>
          </p:cNvPr>
          <p:cNvSpPr txBox="1"/>
          <p:nvPr/>
        </p:nvSpPr>
        <p:spPr>
          <a:xfrm>
            <a:off x="7239000" y="4572000"/>
            <a:ext cx="4318000" cy="67710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Success criteria becomes your review checklist.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421E87-56FA-3645-81E3-F62D41D7D021}"/>
              </a:ext>
            </a:extLst>
          </p:cNvPr>
          <p:cNvSpPr txBox="1"/>
          <p:nvPr/>
        </p:nvSpPr>
        <p:spPr>
          <a:xfrm>
            <a:off x="7239000" y="5003800"/>
            <a:ext cx="431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You already know what to check.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A7CD8-78E6-484D-ADF7-5FB796A1630A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65382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F0E087-581E-A64F-BE9D-2C25D3316D6C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WHY REVIEW IS NON-NEGOTIABLE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79D1B-E457-C74C-8B60-120E02FBF11F}"/>
              </a:ext>
            </a:extLst>
          </p:cNvPr>
          <p:cNvSpPr txBox="1"/>
          <p:nvPr/>
        </p:nvSpPr>
        <p:spPr>
          <a:xfrm>
            <a:off x="762000" y="1270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/>
              <a:t>AI writes wrong code that looks correct — confidently.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C1812-8B8E-9146-8D42-9EA19524A38A}"/>
              </a:ext>
            </a:extLst>
          </p:cNvPr>
          <p:cNvSpPr/>
          <p:nvPr/>
        </p:nvSpPr>
        <p:spPr>
          <a:xfrm>
            <a:off x="762000" y="3556000"/>
            <a:ext cx="3302000" cy="2222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4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95258-CF11-A847-A45D-6F87350C0D86}"/>
              </a:ext>
            </a:extLst>
          </p:cNvPr>
          <p:cNvSpPr txBox="1"/>
          <p:nvPr/>
        </p:nvSpPr>
        <p:spPr>
          <a:xfrm>
            <a:off x="990600" y="3784600"/>
            <a:ext cx="2921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Hallucinated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9ABA6-7026-7442-8867-8219E15C9B1E}"/>
              </a:ext>
            </a:extLst>
          </p:cNvPr>
          <p:cNvSpPr txBox="1"/>
          <p:nvPr/>
        </p:nvSpPr>
        <p:spPr>
          <a:xfrm>
            <a:off x="990600" y="4572000"/>
            <a:ext cx="2921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Calls methods that don't exist on real objects.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B7CDA-7EA4-ED42-8307-6F25F73FF6AD}"/>
              </a:ext>
            </a:extLst>
          </p:cNvPr>
          <p:cNvSpPr/>
          <p:nvPr/>
        </p:nvSpPr>
        <p:spPr>
          <a:xfrm>
            <a:off x="4318000" y="3556000"/>
            <a:ext cx="3302000" cy="2222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4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238D5-50B6-7643-98A0-A998C240EC7A}"/>
              </a:ext>
            </a:extLst>
          </p:cNvPr>
          <p:cNvSpPr txBox="1"/>
          <p:nvPr/>
        </p:nvSpPr>
        <p:spPr>
          <a:xfrm>
            <a:off x="4546600" y="3784600"/>
            <a:ext cx="2921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Wrong conventions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48B3F-3D86-BE4D-B8F2-46A5F6D79C61}"/>
              </a:ext>
            </a:extLst>
          </p:cNvPr>
          <p:cNvSpPr txBox="1"/>
          <p:nvPr/>
        </p:nvSpPr>
        <p:spPr>
          <a:xfrm>
            <a:off x="4546600" y="4572000"/>
            <a:ext cx="2921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Follows the conventions it thinks you want, not yours.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42C0A-397C-1446-84C0-DF0A18D2691B}"/>
              </a:ext>
            </a:extLst>
          </p:cNvPr>
          <p:cNvSpPr/>
          <p:nvPr/>
        </p:nvSpPr>
        <p:spPr>
          <a:xfrm>
            <a:off x="7874000" y="3556000"/>
            <a:ext cx="3302000" cy="2222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4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7D568-7DEE-ED47-BE94-891D7A7EF38A}"/>
              </a:ext>
            </a:extLst>
          </p:cNvPr>
          <p:cNvSpPr txBox="1"/>
          <p:nvPr/>
        </p:nvSpPr>
        <p:spPr>
          <a:xfrm>
            <a:off x="8102600" y="3784600"/>
            <a:ext cx="2921000" cy="3847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/>
              <a:t>Hidden edge case bugs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E818C-2D09-3244-A8FC-6011F8FA9ADB}"/>
              </a:ext>
            </a:extLst>
          </p:cNvPr>
          <p:cNvSpPr txBox="1"/>
          <p:nvPr/>
        </p:nvSpPr>
        <p:spPr>
          <a:xfrm>
            <a:off x="8102600" y="4572000"/>
            <a:ext cx="2921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Normal case works. Empty input, null, or race conditions break.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1EAB2-2CF8-F64E-8D5B-AD823999606F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4F1F"/>
                </a:solidFill>
              </a:rPr>
              <a:t>A 30-second diff review catches 90% of the problems.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9B23A-A37B-8342-94E6-CF59742894E9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2949890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600703-9B16-7547-B331-B7D9AAF5CB9E}"/>
              </a:ext>
            </a:extLst>
          </p:cNvPr>
          <p:cNvSpPr/>
          <p:nvPr/>
        </p:nvSpPr>
        <p:spPr>
          <a:xfrm>
            <a:off x="0" y="0"/>
            <a:ext cx="12192000" cy="65532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F9ED3-0F65-7F4C-B36E-CE1CF77D88D8}"/>
              </a:ext>
            </a:extLst>
          </p:cNvPr>
          <p:cNvSpPr txBox="1"/>
          <p:nvPr/>
        </p:nvSpPr>
        <p:spPr>
          <a:xfrm>
            <a:off x="762000" y="762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THE PRODUCTION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1950C-8449-7645-A240-603E4BC3B58E}"/>
              </a:ext>
            </a:extLst>
          </p:cNvPr>
          <p:cNvSpPr txBox="1"/>
          <p:nvPr/>
        </p:nvSpPr>
        <p:spPr>
          <a:xfrm>
            <a:off x="762000" y="1206500"/>
            <a:ext cx="10668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400" b="1">
                <a:solidFill>
                  <a:srgbClr val="FAFAFA"/>
                </a:solidFill>
              </a:rPr>
              <a:t>Superpowers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4A4D3-CBD4-2E47-860F-6D55ECE8FF82}"/>
              </a:ext>
            </a:extLst>
          </p:cNvPr>
          <p:cNvSpPr txBox="1"/>
          <p:nvPr/>
        </p:nvSpPr>
        <p:spPr>
          <a:xfrm>
            <a:off x="762000" y="2413000"/>
            <a:ext cx="10668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A free agentic skills framework that builds the brainstorm → plan → execute → review loop directly into your coding agent.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66FD2-3383-BC4D-9BFC-F564F02FE44B}"/>
              </a:ext>
            </a:extLst>
          </p:cNvPr>
          <p:cNvSpPr txBox="1"/>
          <p:nvPr/>
        </p:nvSpPr>
        <p:spPr>
          <a:xfrm>
            <a:off x="762000" y="3683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F4F1F"/>
                </a:solidFill>
              </a:rPr>
              <a:t>~175k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6C661-B554-084F-BFDB-8CC806AE39B5}"/>
              </a:ext>
            </a:extLst>
          </p:cNvPr>
          <p:cNvSpPr txBox="1"/>
          <p:nvPr/>
        </p:nvSpPr>
        <p:spPr>
          <a:xfrm>
            <a:off x="762000" y="44958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E5E7EB"/>
                </a:solidFill>
              </a:rPr>
              <a:t>GitHub stars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67DA2-F6FE-1F45-99F8-0EBA1580F03C}"/>
              </a:ext>
            </a:extLst>
          </p:cNvPr>
          <p:cNvSpPr txBox="1"/>
          <p:nvPr/>
        </p:nvSpPr>
        <p:spPr>
          <a:xfrm>
            <a:off x="3492500" y="3683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F4F1F"/>
                </a:solidFill>
              </a:rPr>
              <a:t>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C93A8-4094-0B41-A448-C3A6A0B0D3F7}"/>
              </a:ext>
            </a:extLst>
          </p:cNvPr>
          <p:cNvSpPr txBox="1"/>
          <p:nvPr/>
        </p:nvSpPr>
        <p:spPr>
          <a:xfrm>
            <a:off x="3492500" y="44958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E5E7EB"/>
                </a:solidFill>
              </a:rPr>
              <a:t>skills shipped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308FB-2F25-2742-B405-A38AF5DC7BAB}"/>
              </a:ext>
            </a:extLst>
          </p:cNvPr>
          <p:cNvSpPr txBox="1"/>
          <p:nvPr/>
        </p:nvSpPr>
        <p:spPr>
          <a:xfrm>
            <a:off x="6223000" y="3683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F4F1F"/>
                </a:solidFill>
              </a:rPr>
              <a:t>Jan '26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4A60E-AD7D-E04C-9185-7111421DFA68}"/>
              </a:ext>
            </a:extLst>
          </p:cNvPr>
          <p:cNvSpPr txBox="1"/>
          <p:nvPr/>
        </p:nvSpPr>
        <p:spPr>
          <a:xfrm>
            <a:off x="6223000" y="44958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E5E7EB"/>
                </a:solidFill>
              </a:rPr>
              <a:t>in Claude Code marketplace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E3FBF-BD47-3341-AFE1-735A608C22AD}"/>
              </a:ext>
            </a:extLst>
          </p:cNvPr>
          <p:cNvSpPr txBox="1"/>
          <p:nvPr/>
        </p:nvSpPr>
        <p:spPr>
          <a:xfrm>
            <a:off x="8953500" y="3683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F4F1F"/>
                </a:solidFill>
              </a:rPr>
              <a:t>8+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E472C-8EF4-4D44-ADBB-169B5964240A}"/>
              </a:ext>
            </a:extLst>
          </p:cNvPr>
          <p:cNvSpPr txBox="1"/>
          <p:nvPr/>
        </p:nvSpPr>
        <p:spPr>
          <a:xfrm>
            <a:off x="8953500" y="44958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E5E7EB"/>
                </a:solidFill>
              </a:rPr>
              <a:t>hosts supported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AED7D-7AB4-F944-8454-4FBB0992EACB}"/>
              </a:ext>
            </a:extLst>
          </p:cNvPr>
          <p:cNvSpPr txBox="1"/>
          <p:nvPr/>
        </p:nvSpPr>
        <p:spPr>
          <a:xfrm>
            <a:off x="762000" y="53340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 err="1">
                <a:solidFill>
                  <a:srgbClr val="9CA3AF"/>
                </a:solidFill>
              </a:rPr>
              <a:t>github.com</a:t>
            </a:r>
            <a:r>
              <a:rPr lang="en-US" sz="1600" dirty="0">
                <a:solidFill>
                  <a:srgbClr val="9CA3AF"/>
                </a:solidFill>
              </a:rPr>
              <a:t>/</a:t>
            </a:r>
            <a:r>
              <a:rPr lang="en-US" sz="1600" dirty="0" err="1">
                <a:solidFill>
                  <a:srgbClr val="9CA3AF"/>
                </a:solidFill>
              </a:rPr>
              <a:t>obra</a:t>
            </a:r>
            <a:r>
              <a:rPr lang="en-US" sz="1600" dirty="0">
                <a:solidFill>
                  <a:srgbClr val="9CA3AF"/>
                </a:solidFill>
              </a:rPr>
              <a:t>/superpowers   ·   MIT license   ·   Free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32D68-7273-8541-AECF-CBF2ADD2030F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248705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AA4109-2C80-0B48-B109-1B36EABDF0A7}"/>
              </a:ext>
            </a:extLst>
          </p:cNvPr>
          <p:cNvSpPr txBox="1"/>
          <p:nvPr/>
        </p:nvSpPr>
        <p:spPr>
          <a:xfrm>
            <a:off x="762000" y="330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HOW SUPERPOWERS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EB48F-AA0D-804E-9C8D-6F890825BF6C}"/>
              </a:ext>
            </a:extLst>
          </p:cNvPr>
          <p:cNvSpPr txBox="1"/>
          <p:nvPr/>
        </p:nvSpPr>
        <p:spPr>
          <a:xfrm>
            <a:off x="762000" y="6350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Skills that activate automatically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D65F1D-6BDA-3247-BDA3-6E33B4E4220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320800"/>
          <a:ext cx="10668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62069222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036087642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1042856138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AFAFA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AFAFA"/>
                          </a:solidFill>
                        </a:rPr>
                        <a:t>Skill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AFAFA"/>
                          </a:solidFill>
                        </a:rPr>
                        <a:t>What it forces</a:t>
                      </a:r>
                    </a:p>
                  </a:txBody>
                  <a:tcPr anchor="ctr">
                    <a:solidFill>
                      <a:srgbClr val="0E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5480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brainstorming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Asks clarifying questions before any code is written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64212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writing-plans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Breaks the spec into 2–5 min tasks with file paths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64471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using-git-worktrees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Isolated worktree per task , parallel without clobbering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5864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subagent-driven-development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Each task to a subagent with two-stage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749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TDD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RED-GREEN-REFACTOR. Deletes code written before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71493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requesting-code-review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Runs between tasks. Blocks on critical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88009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/>
                        <a:t>Debug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systematic-debugging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Root cause → pattern → hypothesis →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21025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E1116"/>
                          </a:solidFill>
                        </a:rPr>
                        <a:t>Finish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4F1F"/>
                          </a:solidFill>
                          <a:latin typeface="Consolas"/>
                          <a:cs typeface="Consolas"/>
                        </a:rPr>
                        <a:t>verification-before-completion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E1116"/>
                          </a:solidFill>
                        </a:rPr>
                        <a:t>Runs commands. Captures output as proof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95488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b="1"/>
                        <a:t>Finish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finishing-a-development-branch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Merge, PR, keep, or discard , cleans up </a:t>
                      </a:r>
                      <a:r>
                        <a:rPr lang="en-US" sz="1200" dirty="0" err="1"/>
                        <a:t>worktree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0242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5ACFBF-A2D8-2E4F-B0D6-5436768B3E53}"/>
              </a:ext>
            </a:extLst>
          </p:cNvPr>
          <p:cNvSpPr txBox="1"/>
          <p:nvPr/>
        </p:nvSpPr>
        <p:spPr>
          <a:xfrm>
            <a:off x="762000" y="6205534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 dirty="0">
                <a:solidFill>
                  <a:srgbClr val="1F2937"/>
                </a:solidFill>
              </a:rPr>
              <a:t>Say "Let's build X" → brainstorming starts before Claude writes any code. Your </a:t>
            </a:r>
            <a:r>
              <a:rPr lang="en-US" sz="1600" i="1" dirty="0" err="1">
                <a:solidFill>
                  <a:srgbClr val="1F2937"/>
                </a:solidFill>
              </a:rPr>
              <a:t>CLAUDE.md</a:t>
            </a:r>
            <a:r>
              <a:rPr lang="en-US" sz="1600" i="1" dirty="0">
                <a:solidFill>
                  <a:srgbClr val="1F2937"/>
                </a:solidFill>
              </a:rPr>
              <a:t> rules still apply first.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DCD77-6D7D-774C-8BBE-4F4A30A4AE48}"/>
              </a:ext>
            </a:extLst>
          </p:cNvPr>
          <p:cNvSpPr/>
          <p:nvPr/>
        </p:nvSpPr>
        <p:spPr>
          <a:xfrm>
            <a:off x="9652000" y="317500"/>
            <a:ext cx="1778000" cy="3556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AFAFA"/>
                </a:solidFill>
              </a:rPr>
              <a:t>🎬 DEMO #3 NEXT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86B11-524F-0648-9111-D6D845131CCB}"/>
              </a:ext>
            </a:extLst>
          </p:cNvPr>
          <p:cNvSpPr txBox="1"/>
          <p:nvPr/>
        </p:nvSpPr>
        <p:spPr>
          <a:xfrm>
            <a:off x="762000" y="762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159846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207F2-98B8-724E-99A1-3EDBAE8ED914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SUPERPOWERS  ·  INSTALL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32C9A-6407-DD46-84AA-0F6A07EE1DAD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E1116"/>
                </a:solidFill>
              </a:rPr>
              <a:t>One command. Restart. Done.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526C5-8A67-B64B-BA8D-4634A469F143}"/>
              </a:ext>
            </a:extLst>
          </p:cNvPr>
          <p:cNvSpPr txBox="1"/>
          <p:nvPr/>
        </p:nvSpPr>
        <p:spPr>
          <a:xfrm>
            <a:off x="762000" y="21590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OFFICIAL MARKETPLACE  ·  RECOMMENDED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75DEFA-A001-9441-925B-E8B8B252A85E}"/>
              </a:ext>
            </a:extLst>
          </p:cNvPr>
          <p:cNvSpPr/>
          <p:nvPr/>
        </p:nvSpPr>
        <p:spPr>
          <a:xfrm>
            <a:off x="762000" y="2489200"/>
            <a:ext cx="10668000" cy="762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D9BFD-A8A9-1D42-B0F6-7B47582FC944}"/>
              </a:ext>
            </a:extLst>
          </p:cNvPr>
          <p:cNvSpPr txBox="1"/>
          <p:nvPr/>
        </p:nvSpPr>
        <p:spPr>
          <a:xfrm>
            <a:off x="1016000" y="26416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AFAFA"/>
                </a:solidFill>
                <a:latin typeface="Consolas"/>
                <a:cs typeface="Consolas"/>
              </a:rPr>
              <a:t>/plugin install superpowers@claude-plugins-official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9EFA8-23BA-1844-B076-F8A4BC002835}"/>
              </a:ext>
            </a:extLst>
          </p:cNvPr>
          <p:cNvSpPr txBox="1"/>
          <p:nvPr/>
        </p:nvSpPr>
        <p:spPr>
          <a:xfrm>
            <a:off x="762000" y="3327400"/>
            <a:ext cx="10668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Stable, vetted in the Anthropic marketplace.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69C3A-52A8-7944-B784-6EBE1DB839F2}"/>
              </a:ext>
            </a:extLst>
          </p:cNvPr>
          <p:cNvSpPr txBox="1"/>
          <p:nvPr/>
        </p:nvSpPr>
        <p:spPr>
          <a:xfrm>
            <a:off x="762000" y="38100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4F1F"/>
                </a:solidFill>
              </a:rPr>
              <a:t>LATEST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F8A637-B44D-8244-8DEB-B40CC4E81B66}"/>
              </a:ext>
            </a:extLst>
          </p:cNvPr>
          <p:cNvSpPr/>
          <p:nvPr/>
        </p:nvSpPr>
        <p:spPr>
          <a:xfrm>
            <a:off x="762000" y="4140200"/>
            <a:ext cx="10668000" cy="11430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4CCC6-F3F8-A346-82AD-57FC15A4F9C4}"/>
              </a:ext>
            </a:extLst>
          </p:cNvPr>
          <p:cNvSpPr txBox="1"/>
          <p:nvPr/>
        </p:nvSpPr>
        <p:spPr>
          <a:xfrm>
            <a:off x="1016000" y="4292600"/>
            <a:ext cx="1016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AFAFA"/>
                </a:solidFill>
                <a:latin typeface="Consolas"/>
                <a:cs typeface="Consolas"/>
              </a:rPr>
              <a:t>/plugin marketplace add obra/superpowers-marketplace
/plugin install superpowers@superpowers-marketplace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9BB49-3918-B44F-946E-7AB42E2A2E97}"/>
              </a:ext>
            </a:extLst>
          </p:cNvPr>
          <p:cNvSpPr txBox="1"/>
          <p:nvPr/>
        </p:nvSpPr>
        <p:spPr>
          <a:xfrm>
            <a:off x="762000" y="5359400"/>
            <a:ext cx="10668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937"/>
                </a:solidFill>
              </a:rPr>
              <a:t>Direct from the Superpowers repo. New skills land here first.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19650-48E4-E645-A36D-2D31E956B37F}"/>
              </a:ext>
            </a:extLst>
          </p:cNvPr>
          <p:cNvSpPr txBox="1"/>
          <p:nvPr/>
        </p:nvSpPr>
        <p:spPr>
          <a:xfrm>
            <a:off x="762000" y="59690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0E1116"/>
                </a:solidFill>
              </a:rPr>
              <a:t>Restart Claude Code. Skills activate automatically based on what you say next.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B298-A248-244C-A926-6542E2568506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2707146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36BF8-659C-554D-86A5-F19BC3652F7A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HONEST CAVEAT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FB26E-F198-4B4A-A8AE-92626C9E0637}"/>
              </a:ext>
            </a:extLst>
          </p:cNvPr>
          <p:cNvSpPr txBox="1"/>
          <p:nvPr/>
        </p:nvSpPr>
        <p:spPr>
          <a:xfrm>
            <a:off x="762000" y="10160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E1116"/>
                </a:solidFill>
              </a:rPr>
              <a:t>When NOT to use Superpowers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B5D190-F69B-8E47-A8B9-E8031BDD2C5A}"/>
              </a:ext>
            </a:extLst>
          </p:cNvPr>
          <p:cNvSpPr/>
          <p:nvPr/>
        </p:nvSpPr>
        <p:spPr>
          <a:xfrm>
            <a:off x="762000" y="2222500"/>
            <a:ext cx="10668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6EBD53-A401-BB48-AA61-DFBD6E1C89D7}"/>
              </a:ext>
            </a:extLst>
          </p:cNvPr>
          <p:cNvSpPr/>
          <p:nvPr/>
        </p:nvSpPr>
        <p:spPr>
          <a:xfrm>
            <a:off x="1016000" y="2476500"/>
            <a:ext cx="508000" cy="508000"/>
          </a:xfrm>
          <a:prstGeom prst="ellipse">
            <a:avLst/>
          </a:prstGeom>
          <a:solidFill>
            <a:srgbClr val="FFE6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4F1F"/>
                </a:solidFill>
              </a:rPr>
              <a:t>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01382-6C60-B34B-955E-57F30E87062A}"/>
              </a:ext>
            </a:extLst>
          </p:cNvPr>
          <p:cNvSpPr txBox="1"/>
          <p:nvPr/>
        </p:nvSpPr>
        <p:spPr>
          <a:xfrm>
            <a:off x="1778000" y="2400300"/>
            <a:ext cx="9398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Quick one-off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1B374-BD1D-9C49-BA4A-EB1733E62E0D}"/>
              </a:ext>
            </a:extLst>
          </p:cNvPr>
          <p:cNvSpPr txBox="1"/>
          <p:nvPr/>
        </p:nvSpPr>
        <p:spPr>
          <a:xfrm>
            <a:off x="1778000" y="2781300"/>
            <a:ext cx="939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Brainstorming wastes your time here. Just write the script.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E2F2-379A-5A4D-AB0E-C30A008F58F0}"/>
              </a:ext>
            </a:extLst>
          </p:cNvPr>
          <p:cNvSpPr/>
          <p:nvPr/>
        </p:nvSpPr>
        <p:spPr>
          <a:xfrm>
            <a:off x="762000" y="3441700"/>
            <a:ext cx="10668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48E822-4A9D-AE43-AC46-C78E1CB30169}"/>
              </a:ext>
            </a:extLst>
          </p:cNvPr>
          <p:cNvSpPr/>
          <p:nvPr/>
        </p:nvSpPr>
        <p:spPr>
          <a:xfrm>
            <a:off x="1016000" y="3695700"/>
            <a:ext cx="508000" cy="508000"/>
          </a:xfrm>
          <a:prstGeom prst="ellipse">
            <a:avLst/>
          </a:prstGeom>
          <a:solidFill>
            <a:srgbClr val="FFE6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4F1F"/>
                </a:solidFill>
              </a:rPr>
              <a:t>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A6645-83EB-5D4C-B1A4-35BE43AB8CBD}"/>
              </a:ext>
            </a:extLst>
          </p:cNvPr>
          <p:cNvSpPr txBox="1"/>
          <p:nvPr/>
        </p:nvSpPr>
        <p:spPr>
          <a:xfrm>
            <a:off x="1778000" y="3619500"/>
            <a:ext cx="9398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Exploring unfamiliar APIs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5545B-316D-024B-AE9B-B6480C26B739}"/>
              </a:ext>
            </a:extLst>
          </p:cNvPr>
          <p:cNvSpPr txBox="1"/>
          <p:nvPr/>
        </p:nvSpPr>
        <p:spPr>
          <a:xfrm>
            <a:off x="1778000" y="4000500"/>
            <a:ext cx="939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You want to experiment, not write a spec first.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45E18-1CA5-A740-8373-B42E90D10FB4}"/>
              </a:ext>
            </a:extLst>
          </p:cNvPr>
          <p:cNvSpPr/>
          <p:nvPr/>
        </p:nvSpPr>
        <p:spPr>
          <a:xfrm>
            <a:off x="762000" y="4660900"/>
            <a:ext cx="10668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14EB4-AC3B-A14E-8FAD-E02D0028B6B0}"/>
              </a:ext>
            </a:extLst>
          </p:cNvPr>
          <p:cNvSpPr/>
          <p:nvPr/>
        </p:nvSpPr>
        <p:spPr>
          <a:xfrm>
            <a:off x="1016000" y="4914900"/>
            <a:ext cx="508000" cy="508000"/>
          </a:xfrm>
          <a:prstGeom prst="ellipse">
            <a:avLst/>
          </a:prstGeom>
          <a:solidFill>
            <a:srgbClr val="FFE6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4F1F"/>
                </a:solidFill>
              </a:rPr>
              <a:t>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FCBCA-13A8-8F41-B9A2-EB869E14EE68}"/>
              </a:ext>
            </a:extLst>
          </p:cNvPr>
          <p:cNvSpPr txBox="1"/>
          <p:nvPr/>
        </p:nvSpPr>
        <p:spPr>
          <a:xfrm>
            <a:off x="1778000" y="4838700"/>
            <a:ext cx="9398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E1116"/>
                </a:solidFill>
              </a:rPr>
              <a:t>Very small tweaks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7A2458-CC05-074B-9BF3-1AE6EBFD222F}"/>
              </a:ext>
            </a:extLst>
          </p:cNvPr>
          <p:cNvSpPr txBox="1"/>
          <p:nvPr/>
        </p:nvSpPr>
        <p:spPr>
          <a:xfrm>
            <a:off x="1778000" y="5219700"/>
            <a:ext cx="939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A one-line fix doesn't need tests or a code review.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D8A14-6EEE-7C47-9A81-A95B7401743E}"/>
              </a:ext>
            </a:extLst>
          </p:cNvPr>
          <p:cNvSpPr txBox="1"/>
          <p:nvPr/>
        </p:nvSpPr>
        <p:spPr>
          <a:xfrm>
            <a:off x="1016000" y="5969000"/>
            <a:ext cx="1016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AFAFA"/>
                </a:solidFill>
                <a:latin typeface="Consolas"/>
                <a:cs typeface="Consolas"/>
              </a:rPr>
              <a:t>Per-prompt bypass: prefix with "quick task".  ·  Disable: /plugin disable superpowers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939327-1089-DB40-B349-F7CF3B276D5C}"/>
              </a:ext>
            </a:extLst>
          </p:cNvPr>
          <p:cNvSpPr txBox="1"/>
          <p:nvPr/>
        </p:nvSpPr>
        <p:spPr>
          <a:xfrm>
            <a:off x="762000" y="228600"/>
            <a:ext cx="254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9CA3AF"/>
                </a:solidFill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2271782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26878-A098-0947-8218-B47658F0C23F}"/>
              </a:ext>
            </a:extLst>
          </p:cNvPr>
          <p:cNvSpPr txBox="1"/>
          <p:nvPr/>
        </p:nvSpPr>
        <p:spPr>
          <a:xfrm>
            <a:off x="762000" y="635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4F1F"/>
                </a:solidFill>
              </a:rPr>
              <a:t>PART 05  ·  HANDS-ON  ·  10 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7E0DD-D78B-BA4F-A7EA-ADE72CE30578}"/>
              </a:ext>
            </a:extLst>
          </p:cNvPr>
          <p:cNvSpPr txBox="1"/>
          <p:nvPr/>
        </p:nvSpPr>
        <p:spPr>
          <a:xfrm>
            <a:off x="762000" y="1016000"/>
            <a:ext cx="1066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/>
              <a:t>Your turn: run the loop yourself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D5EA37-FF47-2B4B-89B6-925BD6A5A012}"/>
              </a:ext>
            </a:extLst>
          </p:cNvPr>
          <p:cNvSpPr/>
          <p:nvPr/>
        </p:nvSpPr>
        <p:spPr>
          <a:xfrm>
            <a:off x="762000" y="1955800"/>
            <a:ext cx="406400" cy="406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15299-AF2D-7149-B0E1-85438CAFCB1A}"/>
              </a:ext>
            </a:extLst>
          </p:cNvPr>
          <p:cNvSpPr txBox="1"/>
          <p:nvPr/>
        </p:nvSpPr>
        <p:spPr>
          <a:xfrm>
            <a:off x="1397000" y="1930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Fork &amp; clone the practice repo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27D3B-8AAE-2940-8537-C41660686ED0}"/>
              </a:ext>
            </a:extLst>
          </p:cNvPr>
          <p:cNvSpPr txBox="1"/>
          <p:nvPr/>
        </p:nvSpPr>
        <p:spPr>
          <a:xfrm>
            <a:off x="6096000" y="1981200"/>
            <a:ext cx="533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URL on screen. Use whatever editor you came with.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A1C1FD-7348-C94D-B453-E1A09B273571}"/>
              </a:ext>
            </a:extLst>
          </p:cNvPr>
          <p:cNvSpPr/>
          <p:nvPr/>
        </p:nvSpPr>
        <p:spPr>
          <a:xfrm>
            <a:off x="762000" y="2654300"/>
            <a:ext cx="406400" cy="406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6F8CB-F86D-DD40-B772-C7064EA92BF9}"/>
              </a:ext>
            </a:extLst>
          </p:cNvPr>
          <p:cNvSpPr txBox="1"/>
          <p:nvPr/>
        </p:nvSpPr>
        <p:spPr>
          <a:xfrm>
            <a:off x="1397000" y="26289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Generate your project memory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5D6A1-80F3-714A-8C36-440BE7E507E9}"/>
              </a:ext>
            </a:extLst>
          </p:cNvPr>
          <p:cNvSpPr txBox="1"/>
          <p:nvPr/>
        </p:nvSpPr>
        <p:spPr>
          <a:xfrm>
            <a:off x="6096000" y="2679700"/>
            <a:ext cx="5334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CLAUDE.md, AGENTS.md, GEMINI.md, .cursor/rules. Your tool, your filename.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4B4944-3C8C-F74C-BC2C-1AAF9468F9B5}"/>
              </a:ext>
            </a:extLst>
          </p:cNvPr>
          <p:cNvSpPr/>
          <p:nvPr/>
        </p:nvSpPr>
        <p:spPr>
          <a:xfrm>
            <a:off x="762000" y="3352800"/>
            <a:ext cx="406400" cy="406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F52F9-4C3B-0B44-B5F9-92D29C145E6F}"/>
              </a:ext>
            </a:extLst>
          </p:cNvPr>
          <p:cNvSpPr txBox="1"/>
          <p:nvPr/>
        </p:nvSpPr>
        <p:spPr>
          <a:xfrm>
            <a:off x="1397000" y="3327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Write one scoped rule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5F62A-1341-A141-89AF-3154DE229BA8}"/>
              </a:ext>
            </a:extLst>
          </p:cNvPr>
          <p:cNvSpPr txBox="1"/>
          <p:nvPr/>
        </p:nvSpPr>
        <p:spPr>
          <a:xfrm>
            <a:off x="6096000" y="3378200"/>
            <a:ext cx="533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Pick a convention you spot in the codebase. Document it.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9FD339-8F5F-3D4B-B612-AF6B3AD52BF9}"/>
              </a:ext>
            </a:extLst>
          </p:cNvPr>
          <p:cNvSpPr/>
          <p:nvPr/>
        </p:nvSpPr>
        <p:spPr>
          <a:xfrm>
            <a:off x="762000" y="4051300"/>
            <a:ext cx="406400" cy="406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BD9D66-32FC-6A45-A5A5-4457E5A0C0E9}"/>
              </a:ext>
            </a:extLst>
          </p:cNvPr>
          <p:cNvSpPr txBox="1"/>
          <p:nvPr/>
        </p:nvSpPr>
        <p:spPr>
          <a:xfrm>
            <a:off x="1397000" y="40259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Fix one seeded bug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52718-604B-8745-A632-5B858B639CF8}"/>
              </a:ext>
            </a:extLst>
          </p:cNvPr>
          <p:cNvSpPr txBox="1"/>
          <p:nvPr/>
        </p:nvSpPr>
        <p:spPr>
          <a:xfrm>
            <a:off x="6096000" y="4076700"/>
            <a:ext cx="533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Pick from ISSUES.md. Spec → generate → review the diff.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2F62E-AC7E-D942-BE53-95664FE45A67}"/>
              </a:ext>
            </a:extLst>
          </p:cNvPr>
          <p:cNvSpPr/>
          <p:nvPr/>
        </p:nvSpPr>
        <p:spPr>
          <a:xfrm>
            <a:off x="762000" y="4749800"/>
            <a:ext cx="406400" cy="406400"/>
          </a:xfrm>
          <a:prstGeom prst="ellipse">
            <a:avLst/>
          </a:prstGeom>
          <a:solidFill>
            <a:srgbClr val="FF4F1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EB8B70-0182-3D48-A8B1-5B045703A513}"/>
              </a:ext>
            </a:extLst>
          </p:cNvPr>
          <p:cNvSpPr txBox="1"/>
          <p:nvPr/>
        </p:nvSpPr>
        <p:spPr>
          <a:xfrm>
            <a:off x="1397000" y="47244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/>
              <a:t>Add one small feature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A5F1E-725E-E043-B3DD-F7A83FDD1771}"/>
              </a:ext>
            </a:extLst>
          </p:cNvPr>
          <p:cNvSpPr txBox="1"/>
          <p:nvPr/>
        </p:nvSpPr>
        <p:spPr>
          <a:xfrm>
            <a:off x="6096000" y="4775200"/>
            <a:ext cx="533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F2937"/>
                </a:solidFill>
              </a:rPr>
              <a:t>Same loop. See FEATURES.md for ideas.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FCAED6-2B3C-E04D-BC19-F210C647FE2E}"/>
              </a:ext>
            </a:extLst>
          </p:cNvPr>
          <p:cNvSpPr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solidFill>
            <a:srgbClr val="FFF4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F33FB3-35E8-9D43-AEAC-5BBDA3045F30}"/>
              </a:ext>
            </a:extLst>
          </p:cNvPr>
          <p:cNvSpPr txBox="1"/>
          <p:nvPr/>
        </p:nvSpPr>
        <p:spPr>
          <a:xfrm>
            <a:off x="1016000" y="5778500"/>
            <a:ext cx="1016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Graded on the process, not the fix. A good spec with a visible review beats a working fix from “fix it.”</a:t>
            </a:r>
          </a:p>
        </p:txBody>
      </p:sp>
    </p:spTree>
    <p:extLst>
      <p:ext uri="{BB962C8B-B14F-4D97-AF65-F5344CB8AC3E}">
        <p14:creationId xmlns:p14="http://schemas.microsoft.com/office/powerpoint/2010/main" val="1106861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936E9F-B761-7640-B937-BEE41B196365}"/>
              </a:ext>
            </a:extLst>
          </p:cNvPr>
          <p:cNvSpPr/>
          <p:nvPr/>
        </p:nvSpPr>
        <p:spPr>
          <a:xfrm>
            <a:off x="0" y="0"/>
            <a:ext cx="12192000" cy="6553200"/>
          </a:xfrm>
          <a:prstGeom prst="rect">
            <a:avLst/>
          </a:prstGeom>
          <a:solidFill>
            <a:srgbClr val="0E111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AC9C2-0776-9745-96A1-EF53891FA423}"/>
              </a:ext>
            </a:extLst>
          </p:cNvPr>
          <p:cNvSpPr txBox="1"/>
          <p:nvPr/>
        </p:nvSpPr>
        <p:spPr>
          <a:xfrm>
            <a:off x="762000" y="10160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4F1F"/>
                </a:solidFill>
              </a:rPr>
              <a:t>Q&amp;A  ·  PART 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1224C-721C-C04D-8B91-790BE72FFB6E}"/>
              </a:ext>
            </a:extLst>
          </p:cNvPr>
          <p:cNvSpPr txBox="1"/>
          <p:nvPr/>
        </p:nvSpPr>
        <p:spPr>
          <a:xfrm>
            <a:off x="762000" y="1651000"/>
            <a:ext cx="10668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AFAFA"/>
                </a:solidFill>
              </a:rPr>
              <a:t>The discipline matters more than the tool.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DF8C9-9660-E442-B4AD-C8DA8682B129}"/>
              </a:ext>
            </a:extLst>
          </p:cNvPr>
          <p:cNvSpPr txBox="1"/>
          <p:nvPr/>
        </p:nvSpPr>
        <p:spPr>
          <a:xfrm>
            <a:off x="762000" y="3429000"/>
            <a:ext cx="10668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>
                <a:solidFill>
                  <a:srgbClr val="E5E7EB"/>
                </a:solidFill>
              </a:rPr>
              <a:t>Learn the loop — spec, generate, review — and you can switch between Cursor, Claude, Copilot, or any new tool without getting lost.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9D1B8-0D87-B148-BE4E-5A47DB64C3D5}"/>
              </a:ext>
            </a:extLst>
          </p:cNvPr>
          <p:cNvSpPr txBox="1"/>
          <p:nvPr/>
        </p:nvSpPr>
        <p:spPr>
          <a:xfrm>
            <a:off x="762000" y="5080000"/>
            <a:ext cx="10668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F4F1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73041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283979305]">
  <a:themeElements>
    <a:clrScheme name="Office">
      <a:dk1>
        <a:srgbClr val="0E1116"/>
      </a:dk1>
      <a:lt1>
        <a:srgbClr val="FAFAFA"/>
      </a:lt1>
      <a:dk2>
        <a:srgbClr val="1F2937"/>
      </a:dk2>
      <a:lt2>
        <a:srgbClr val="E5E7EB"/>
      </a:lt2>
      <a:accent1>
        <a:srgbClr val="FF4F1F"/>
      </a:accent1>
      <a:accent2>
        <a:srgbClr val="1F6FEB"/>
      </a:accent2>
      <a:accent3>
        <a:srgbClr val="0E1116"/>
      </a:accent3>
      <a:accent4>
        <a:srgbClr val="16A34A"/>
      </a:accent4>
      <a:accent5>
        <a:srgbClr val="F59E0B"/>
      </a:accent5>
      <a:accent6>
        <a:srgbClr val="8B5CF6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B42E85-A4E8-D942-93A2-0743F008D32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c69fdd-c454-4db9-b80d-d4703ab7dc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3149</Words>
  <Application>Microsoft Macintosh PowerPoint</Application>
  <PresentationFormat>Widescreen</PresentationFormat>
  <Paragraphs>327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Consolas</vt:lpstr>
      <vt:lpstr>Inter</vt:lpstr>
      <vt:lpstr>Office Theme [1778283979305]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Kassem Bagher</dc:creator>
  <cp:lastModifiedBy>Kassem Bagher</cp:lastModifiedBy>
  <cp:revision>17</cp:revision>
  <dcterms:created xsi:type="dcterms:W3CDTF">2026-05-08T23:25:44Z</dcterms:created>
  <dcterms:modified xsi:type="dcterms:W3CDTF">2026-05-09T09:51:47Z</dcterms:modified>
</cp:coreProperties>
</file>