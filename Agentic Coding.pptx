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25"/>
  </p:notesMasterIdLst>
  <p:sldIdLst>
    <p:sldId id="386" r:id="rId2"/>
    <p:sldId id="361" r:id="rId3"/>
    <p:sldId id="362" r:id="rId4"/>
    <p:sldId id="363" r:id="rId5"/>
    <p:sldId id="364" r:id="rId6"/>
    <p:sldId id="365" r:id="rId7"/>
    <p:sldId id="366" r:id="rId8"/>
    <p:sldId id="367" r:id="rId9"/>
    <p:sldId id="368" r:id="rId10"/>
    <p:sldId id="369" r:id="rId11"/>
    <p:sldId id="370" r:id="rId12"/>
    <p:sldId id="371" r:id="rId13"/>
    <p:sldId id="383" r:id="rId14"/>
    <p:sldId id="372" r:id="rId15"/>
    <p:sldId id="384" r:id="rId16"/>
    <p:sldId id="374" r:id="rId17"/>
    <p:sldId id="375" r:id="rId18"/>
    <p:sldId id="376" r:id="rId19"/>
    <p:sldId id="377" r:id="rId20"/>
    <p:sldId id="378" r:id="rId21"/>
    <p:sldId id="385" r:id="rId22"/>
    <p:sldId id="380" r:id="rId23"/>
    <p:sldId id="381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880"/>
    <p:restoredTop sz="82776"/>
  </p:normalViewPr>
  <p:slideViewPr>
    <p:cSldViewPr snapToGrid="0">
      <p:cViewPr>
        <p:scale>
          <a:sx n="91" d="100"/>
          <a:sy n="91" d="100"/>
        </p:scale>
        <p:origin x="72" y="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50C0A1-3B2F-D14A-851F-0E2DF4E21831}" type="datetimeFigureOut">
              <a:rPr lang="en-US" smtClean="0"/>
              <a:t>5/9/26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5E3571-8537-3947-BFEA-041D2F0B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602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60 minutes. Spoken in Arabic, slides and code in English. Goal: leave with a workflow you can run, not a list of terms.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5E3571-8537-3947-BFEA-041D2F0B9B5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8421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5E3571-8537-3947-BFEA-041D2F0B9B5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2306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5E3571-8537-3947-BFEA-041D2F0B9B5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87366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5E3571-8537-3947-BFEA-041D2F0B9B5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21303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121E2-375A-9F72-527D-E205C7DAD8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B6575C-7715-A166-76B9-648EBF91F2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158CD6-97C3-D257-F51B-9AE39DF32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2858B-944B-E9DC-72A1-ECD27378C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888160-BBDE-42A6-7258-BE4235F65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384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BEF58-9415-B4A3-2D32-0D072C195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C26174-4C7F-3D21-6999-2811FEB27A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909A10-F526-F491-32F2-E68439B0CB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66630B-3785-9148-CC01-FC8BD5349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0F560B-B296-25FE-18FF-C44009659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667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029A0-58AE-046F-AD1D-FC868EA73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13680-BC4F-E061-5E15-9D3C16179D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D6214-57FB-0E97-B5C4-AA43625B1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6B1C64-70BA-F0BE-1208-B6A5D2CE4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D744D-B8B2-3EEF-535F-0C341713C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1230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D5EDD-CDAF-ED29-42CD-B63D4D226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F6B5AE-51B5-7725-417F-99718D736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FDB465-7871-4529-9902-B084487036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85732B-6279-A26D-198E-25CF10863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3AEEAA-5089-F872-BD26-C33D56F58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B31214-B629-193F-C3ED-D8FD64F4A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8350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CD653-53B5-01CB-00EC-E75913BC9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DA2633-9EF6-CC44-F9C8-3B5D841852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997249-6C0A-3FA9-DB5E-9FEF6F2910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A1E60E-D330-A7CA-D2C0-5D50F63E3F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36A7F4-A9E0-D837-951B-68B06C35B4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CEFDEF-C54F-97D4-B9C9-44BF47EBF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D316927-A212-D591-117F-F65F0CB58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360E7B-6BC3-E558-390A-888098112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523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95C27-0CA2-8A60-8C6F-8C596A66B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166832-5666-05E6-8B1B-7FEA1FE8F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1C50B1-8B11-6E29-19DA-EB967E31E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40E97C-DA66-61EB-C9F4-B495EC9CE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872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0D99E3-F837-B53C-967E-00565CED5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0AE54D-3BD4-EE51-583E-9C6E81119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BC1A5D-F6BB-360D-24F2-08DEA5FC6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5474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D931D-BE38-A594-FD07-434678470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D3475-F03E-39E3-410C-3698851129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7C8679-29BC-FB59-D398-BE8FD7BB57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CE5CE3-D6D3-3C6C-9DEC-DDC921B60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024BED-9BB7-CD5A-4EBA-D46BB8E8C5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191948-306D-61AE-12FC-67440C6E2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7643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0BEBE-2AE0-BEFE-9712-55F58346F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CA3BC5-6D5B-00CB-F8B3-9314667172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5294D9-AFCE-7E0F-F671-60293C004C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701DB8-1904-556C-717E-6D939FBC5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FFCC91-CE52-39F6-5488-2C65D16BF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E55C4D-B031-E22D-C479-CFF44EE95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32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49862-D084-97A5-53F7-BB19B9B93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D16803-F7EF-2733-3A6D-7771A34683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B938A-01FC-39D3-0D2D-C524F1298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7AC840-E4E1-787D-FDE2-FDAC382E9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150314-6410-935F-E87F-7E0B707AD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0109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7D9B6A-E310-8331-BB7B-4A9979637C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6EA6F3-F710-C691-56CB-8964D18347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2EEB77-B069-3E4A-0DCB-A21586D22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5018E4-ADC0-6082-B857-2C4440D0F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F60BD3-808D-3ED8-F938-D89486B33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923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16B4A-7A64-6467-6BB6-F72060A1D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5AC6E-83B0-5B4C-B79A-9F3D2E190B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72ABDE-1BCC-870F-D279-923434AB13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09C64-B846-C29C-81F8-BD8387C3A6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6791B-332A-979F-BCA1-6BAF683B64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  <p:sp>
        <p:nvSpPr>
          <p:cNvPr id="901" name="AccentBar"/>
          <p:cNvSpPr/>
          <p:nvPr userDrawn="1"/>
        </p:nvSpPr>
        <p:spPr>
          <a:xfrm>
            <a:off x="0" y="6553200"/>
            <a:ext cx="9144000" cy="762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07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E111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E1116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E1116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E1116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E1116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E111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E1116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E1116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E1116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E1116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2BA94D-470E-2440-9A54-1872A2C17DEC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1F6F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5AF0A8-1F0F-0849-8A32-D7694AFDDA8D}"/>
              </a:ext>
            </a:extLst>
          </p:cNvPr>
          <p:cNvSpPr txBox="1"/>
          <p:nvPr/>
        </p:nvSpPr>
        <p:spPr>
          <a:xfrm>
            <a:off x="762000" y="1905000"/>
            <a:ext cx="10668000" cy="132343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5200" b="1" dirty="0">
                <a:solidFill>
                  <a:srgbClr val="0E1116"/>
                </a:solidFill>
              </a:rPr>
              <a:t>Agentic Coding</a:t>
            </a:r>
          </a:p>
          <a:p>
            <a:r>
              <a:rPr lang="en-US" sz="2800" b="0" dirty="0">
                <a:solidFill>
                  <a:srgbClr val="1F2937"/>
                </a:solidFill>
              </a:rPr>
              <a:t>A Hands-On Workshop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707918-0C55-0746-884B-A8D814CC82B7}"/>
              </a:ext>
            </a:extLst>
          </p:cNvPr>
          <p:cNvSpPr txBox="1"/>
          <p:nvPr/>
        </p:nvSpPr>
        <p:spPr>
          <a:xfrm>
            <a:off x="762000" y="4318000"/>
            <a:ext cx="1066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 dirty="0">
                <a:solidFill>
                  <a:srgbClr val="0E1116"/>
                </a:solidFill>
              </a:rPr>
              <a:t>Kassem Bagher</a:t>
            </a:r>
          </a:p>
        </p:txBody>
      </p:sp>
    </p:spTree>
    <p:extLst>
      <p:ext uri="{BB962C8B-B14F-4D97-AF65-F5344CB8AC3E}">
        <p14:creationId xmlns:p14="http://schemas.microsoft.com/office/powerpoint/2010/main" val="1581615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C09CFE-6CDF-4F40-A583-5AA87A13BABA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F6FEB"/>
                </a:solidFill>
              </a:rPr>
              <a:t>WHAT YOU'LL WALK AWAY WITH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BA8C26-3825-DD49-A49D-3C6C364D3D1A}"/>
              </a:ext>
            </a:extLst>
          </p:cNvPr>
          <p:cNvSpPr txBox="1"/>
          <p:nvPr/>
        </p:nvSpPr>
        <p:spPr>
          <a:xfrm>
            <a:off x="762000" y="1016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 dirty="0"/>
              <a:t>Real things you can use, not just ideas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CC37B6-056D-324F-A066-4067F0F54523}"/>
              </a:ext>
            </a:extLst>
          </p:cNvPr>
          <p:cNvSpPr/>
          <p:nvPr/>
        </p:nvSpPr>
        <p:spPr>
          <a:xfrm>
            <a:off x="762000" y="2032000"/>
            <a:ext cx="5080000" cy="1905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1143C9-CCAF-3E4E-905B-A456CC6B698B}"/>
              </a:ext>
            </a:extLst>
          </p:cNvPr>
          <p:cNvSpPr txBox="1"/>
          <p:nvPr/>
        </p:nvSpPr>
        <p:spPr>
          <a:xfrm>
            <a:off x="1016000" y="2235200"/>
            <a:ext cx="762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F6FEB"/>
                </a:solidFill>
              </a:rPr>
              <a:t>01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97A9F8-9D8F-154F-BDE4-9FA6A54AEBBE}"/>
              </a:ext>
            </a:extLst>
          </p:cNvPr>
          <p:cNvSpPr txBox="1"/>
          <p:nvPr/>
        </p:nvSpPr>
        <p:spPr>
          <a:xfrm>
            <a:off x="1016000" y="2565400"/>
            <a:ext cx="4572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0E1116"/>
                </a:solidFill>
              </a:rPr>
              <a:t>A project memory file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BEF638-5DA0-704C-8EA2-29BBC4DF1FF9}"/>
              </a:ext>
            </a:extLst>
          </p:cNvPr>
          <p:cNvSpPr txBox="1"/>
          <p:nvPr/>
        </p:nvSpPr>
        <p:spPr>
          <a:xfrm>
            <a:off x="1016000" y="3048000"/>
            <a:ext cx="4572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1F2937"/>
                </a:solidFill>
              </a:rPr>
              <a:t>CLAUDE.md / AGENTS.md generated yourself for a real repo.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9675BB-CE1F-0B42-9795-895524C81A7C}"/>
              </a:ext>
            </a:extLst>
          </p:cNvPr>
          <p:cNvSpPr/>
          <p:nvPr/>
        </p:nvSpPr>
        <p:spPr>
          <a:xfrm>
            <a:off x="6096000" y="2032000"/>
            <a:ext cx="5080000" cy="1905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8EF29C-506C-9341-A425-C3430C123CA0}"/>
              </a:ext>
            </a:extLst>
          </p:cNvPr>
          <p:cNvSpPr txBox="1"/>
          <p:nvPr/>
        </p:nvSpPr>
        <p:spPr>
          <a:xfrm>
            <a:off x="6350000" y="2235200"/>
            <a:ext cx="762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F6FEB"/>
                </a:solidFill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4F732E-2891-EA43-9E60-731259F9147A}"/>
              </a:ext>
            </a:extLst>
          </p:cNvPr>
          <p:cNvSpPr txBox="1"/>
          <p:nvPr/>
        </p:nvSpPr>
        <p:spPr>
          <a:xfrm>
            <a:off x="6350000" y="2565400"/>
            <a:ext cx="4572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0E1116"/>
                </a:solidFill>
              </a:rPr>
              <a:t>One spec → generate → review cycle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159899-44E5-9B43-A683-BBE62586EE68}"/>
              </a:ext>
            </a:extLst>
          </p:cNvPr>
          <p:cNvSpPr txBox="1"/>
          <p:nvPr/>
        </p:nvSpPr>
        <p:spPr>
          <a:xfrm>
            <a:off x="6350000" y="3048000"/>
            <a:ext cx="4572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800">
                <a:solidFill>
                  <a:srgbClr val="1F2937"/>
                </a:solidFill>
              </a:rPr>
              <a:t>Understand the loop end-to-end. Practice on a seeded repo after the session.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F052B3E-4739-E444-B3F1-A528855EF6D0}"/>
              </a:ext>
            </a:extLst>
          </p:cNvPr>
          <p:cNvSpPr/>
          <p:nvPr/>
        </p:nvSpPr>
        <p:spPr>
          <a:xfrm>
            <a:off x="762000" y="4191000"/>
            <a:ext cx="5080000" cy="1905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06C4F0-F334-2545-8851-EAE00DF9724B}"/>
              </a:ext>
            </a:extLst>
          </p:cNvPr>
          <p:cNvSpPr txBox="1"/>
          <p:nvPr/>
        </p:nvSpPr>
        <p:spPr>
          <a:xfrm>
            <a:off x="1016000" y="4394200"/>
            <a:ext cx="762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F6FEB"/>
                </a:solidFill>
              </a:rPr>
              <a:t>03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D9EEED-DBF6-184F-8F7A-A10F22315648}"/>
              </a:ext>
            </a:extLst>
          </p:cNvPr>
          <p:cNvSpPr txBox="1"/>
          <p:nvPr/>
        </p:nvSpPr>
        <p:spPr>
          <a:xfrm>
            <a:off x="1016000" y="4724400"/>
            <a:ext cx="4572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0E1116"/>
                </a:solidFill>
              </a:rPr>
              <a:t>Five core principles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F52A35-5700-9546-91FB-40980D360C79}"/>
              </a:ext>
            </a:extLst>
          </p:cNvPr>
          <p:cNvSpPr txBox="1"/>
          <p:nvPr/>
        </p:nvSpPr>
        <p:spPr>
          <a:xfrm>
            <a:off x="1016000" y="5207000"/>
            <a:ext cx="4572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1F2937"/>
                </a:solidFill>
              </a:rPr>
              <a:t>A mental model you can apply tomorrow on your own projects.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7089E7-DDA9-0C46-8775-53DE619932A1}"/>
              </a:ext>
            </a:extLst>
          </p:cNvPr>
          <p:cNvSpPr/>
          <p:nvPr/>
        </p:nvSpPr>
        <p:spPr>
          <a:xfrm>
            <a:off x="6096000" y="4191000"/>
            <a:ext cx="5080000" cy="1905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6EBD8B-D3F1-7340-8919-E9AA16BDF83B}"/>
              </a:ext>
            </a:extLst>
          </p:cNvPr>
          <p:cNvSpPr txBox="1"/>
          <p:nvPr/>
        </p:nvSpPr>
        <p:spPr>
          <a:xfrm>
            <a:off x="6350000" y="4394200"/>
            <a:ext cx="762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F6FEB"/>
                </a:solidFill>
              </a:rPr>
              <a:t>04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76EB4B-3AB6-FB48-9580-5D611F7C515D}"/>
              </a:ext>
            </a:extLst>
          </p:cNvPr>
          <p:cNvSpPr txBox="1"/>
          <p:nvPr/>
        </p:nvSpPr>
        <p:spPr>
          <a:xfrm>
            <a:off x="6350000" y="4724400"/>
            <a:ext cx="4572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0E1116"/>
                </a:solidFill>
              </a:rPr>
              <a:t>A practice repo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B5B649-9755-2449-B12A-52D4FF2BA3B2}"/>
              </a:ext>
            </a:extLst>
          </p:cNvPr>
          <p:cNvSpPr txBox="1"/>
          <p:nvPr/>
        </p:nvSpPr>
        <p:spPr>
          <a:xfrm>
            <a:off x="6350000" y="5207000"/>
            <a:ext cx="4572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1F2937"/>
                </a:solidFill>
              </a:rPr>
              <a:t>Yours to keep. Experiment after the session.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8DCB6D-9869-1440-ADFC-BA7D32198070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01</a:t>
            </a:r>
          </a:p>
        </p:txBody>
      </p:sp>
    </p:spTree>
    <p:extLst>
      <p:ext uri="{BB962C8B-B14F-4D97-AF65-F5344CB8AC3E}">
        <p14:creationId xmlns:p14="http://schemas.microsoft.com/office/powerpoint/2010/main" val="4023055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659E21-0155-1F47-8FA9-976A73A877A3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 dirty="0">
                <a:solidFill>
                  <a:srgbClr val="1F6FEB"/>
                </a:solidFill>
              </a:rPr>
              <a:t>AGENDA  ·  60 MINUTES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541240-BDA9-654B-8C7B-53876EC2B4BB}"/>
              </a:ext>
            </a:extLst>
          </p:cNvPr>
          <p:cNvSpPr txBox="1"/>
          <p:nvPr/>
        </p:nvSpPr>
        <p:spPr>
          <a:xfrm>
            <a:off x="762000" y="1016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 dirty="0"/>
              <a:t>Outline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7D0C918-F0E8-BA40-B914-CD4CED464862}"/>
              </a:ext>
            </a:extLst>
          </p:cNvPr>
          <p:cNvSpPr/>
          <p:nvPr/>
        </p:nvSpPr>
        <p:spPr>
          <a:xfrm>
            <a:off x="762000" y="2032000"/>
            <a:ext cx="457200" cy="457200"/>
          </a:xfrm>
          <a:prstGeom prst="ellipse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AFAFA"/>
                </a:solidFill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CED39F-0334-B44F-86E0-CDB0AC880F8C}"/>
              </a:ext>
            </a:extLst>
          </p:cNvPr>
          <p:cNvSpPr txBox="1"/>
          <p:nvPr/>
        </p:nvSpPr>
        <p:spPr>
          <a:xfrm>
            <a:off x="1397000" y="2082800"/>
            <a:ext cx="4826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0E1116"/>
                </a:solidFill>
              </a:rPr>
              <a:t>Introduction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3992A3-D9A7-A94A-B76D-7D7B8BAB6654}"/>
              </a:ext>
            </a:extLst>
          </p:cNvPr>
          <p:cNvSpPr txBox="1"/>
          <p:nvPr/>
        </p:nvSpPr>
        <p:spPr>
          <a:xfrm>
            <a:off x="6350000" y="2108200"/>
            <a:ext cx="355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F2937"/>
                </a:solidFill>
              </a:rPr>
              <a:t>The one idea that holds it together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3C42D0-CB32-EC4D-BD98-4C652D60CBF4}"/>
              </a:ext>
            </a:extLst>
          </p:cNvPr>
          <p:cNvSpPr txBox="1"/>
          <p:nvPr/>
        </p:nvSpPr>
        <p:spPr>
          <a:xfrm>
            <a:off x="10160000" y="2108200"/>
            <a:ext cx="127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 dirty="0">
                <a:solidFill>
                  <a:srgbClr val="1F6FEB"/>
                </a:solidFill>
              </a:rPr>
              <a:t>5 min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3153755-3D3F-E64B-B924-A165FDBE015C}"/>
              </a:ext>
            </a:extLst>
          </p:cNvPr>
          <p:cNvSpPr/>
          <p:nvPr/>
        </p:nvSpPr>
        <p:spPr>
          <a:xfrm>
            <a:off x="762000" y="2667000"/>
            <a:ext cx="457200" cy="457200"/>
          </a:xfrm>
          <a:prstGeom prst="ellipse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AFAFA"/>
                </a:solidFill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057CF4-FAB6-7045-ACD4-D65E7A948DCF}"/>
              </a:ext>
            </a:extLst>
          </p:cNvPr>
          <p:cNvSpPr txBox="1"/>
          <p:nvPr/>
        </p:nvSpPr>
        <p:spPr>
          <a:xfrm>
            <a:off x="1397000" y="2717800"/>
            <a:ext cx="4826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0E1116"/>
                </a:solidFill>
              </a:rPr>
              <a:t>Prompting essentials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3F3EF1-6A65-7F47-899E-4FE841218861}"/>
              </a:ext>
            </a:extLst>
          </p:cNvPr>
          <p:cNvSpPr txBox="1"/>
          <p:nvPr/>
        </p:nvSpPr>
        <p:spPr>
          <a:xfrm>
            <a:off x="6350000" y="2743200"/>
            <a:ext cx="355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Four habits + bad-vs-good demo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3DAFA8-0F18-B34C-8844-F7C67EE3F5AA}"/>
              </a:ext>
            </a:extLst>
          </p:cNvPr>
          <p:cNvSpPr txBox="1"/>
          <p:nvPr/>
        </p:nvSpPr>
        <p:spPr>
          <a:xfrm>
            <a:off x="10160000" y="2743200"/>
            <a:ext cx="127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1F6FEB"/>
                </a:solidFill>
              </a:rPr>
              <a:t>8 min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1A68128-232E-4D42-9713-93EEE4F641D6}"/>
              </a:ext>
            </a:extLst>
          </p:cNvPr>
          <p:cNvSpPr/>
          <p:nvPr/>
        </p:nvSpPr>
        <p:spPr>
          <a:xfrm>
            <a:off x="762000" y="3302000"/>
            <a:ext cx="457200" cy="457200"/>
          </a:xfrm>
          <a:prstGeom prst="ellipse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AFAFA"/>
                </a:solidFill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DF2410-1547-724F-B2A4-145F4B24D004}"/>
              </a:ext>
            </a:extLst>
          </p:cNvPr>
          <p:cNvSpPr txBox="1"/>
          <p:nvPr/>
        </p:nvSpPr>
        <p:spPr>
          <a:xfrm>
            <a:off x="1397000" y="3352800"/>
            <a:ext cx="4826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0E1116"/>
                </a:solidFill>
              </a:rPr>
              <a:t>Context files: the project's memory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5559F3-DA7C-B34D-8A0E-FED2EA7A5253}"/>
              </a:ext>
            </a:extLst>
          </p:cNvPr>
          <p:cNvSpPr txBox="1"/>
          <p:nvPr/>
        </p:nvSpPr>
        <p:spPr>
          <a:xfrm>
            <a:off x="6350000" y="3378200"/>
            <a:ext cx="355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CLAUDE.md, AGENTS.md, scoped rules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816294-BE0B-BE47-9E84-820232C1AA8A}"/>
              </a:ext>
            </a:extLst>
          </p:cNvPr>
          <p:cNvSpPr txBox="1"/>
          <p:nvPr/>
        </p:nvSpPr>
        <p:spPr>
          <a:xfrm>
            <a:off x="10160000" y="3378200"/>
            <a:ext cx="127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1F6FEB"/>
                </a:solidFill>
              </a:rPr>
              <a:t>12 min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0F34CCF-022A-7040-BE9F-E21A4E0ADFDA}"/>
              </a:ext>
            </a:extLst>
          </p:cNvPr>
          <p:cNvSpPr/>
          <p:nvPr/>
        </p:nvSpPr>
        <p:spPr>
          <a:xfrm>
            <a:off x="762000" y="3937000"/>
            <a:ext cx="457200" cy="457200"/>
          </a:xfrm>
          <a:prstGeom prst="ellipse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AFAFA"/>
                </a:solidFill>
              </a:rPr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8FB4E0-A882-8141-9740-7756B0900E22}"/>
              </a:ext>
            </a:extLst>
          </p:cNvPr>
          <p:cNvSpPr txBox="1"/>
          <p:nvPr/>
        </p:nvSpPr>
        <p:spPr>
          <a:xfrm>
            <a:off x="1397000" y="3987800"/>
            <a:ext cx="4826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0E1116"/>
                </a:solidFill>
              </a:rPr>
              <a:t>Spec → generate → review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226271A-BC4F-2F44-A216-C7E570E5C52D}"/>
              </a:ext>
            </a:extLst>
          </p:cNvPr>
          <p:cNvSpPr txBox="1"/>
          <p:nvPr/>
        </p:nvSpPr>
        <p:spPr>
          <a:xfrm>
            <a:off x="6350000" y="4013200"/>
            <a:ext cx="355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The core loop, plus Superpowers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F4CE59-1C4B-484E-9558-4D446E0E5469}"/>
              </a:ext>
            </a:extLst>
          </p:cNvPr>
          <p:cNvSpPr txBox="1"/>
          <p:nvPr/>
        </p:nvSpPr>
        <p:spPr>
          <a:xfrm>
            <a:off x="10160000" y="4013200"/>
            <a:ext cx="127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1F6FEB"/>
                </a:solidFill>
              </a:rPr>
              <a:t>17 min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BD1351C-CF07-5748-A2D5-38E9BA8736F1}"/>
              </a:ext>
            </a:extLst>
          </p:cNvPr>
          <p:cNvSpPr/>
          <p:nvPr/>
        </p:nvSpPr>
        <p:spPr>
          <a:xfrm>
            <a:off x="762000" y="4572000"/>
            <a:ext cx="457200" cy="457200"/>
          </a:xfrm>
          <a:prstGeom prst="ellipse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AFAFA"/>
                </a:solidFill>
              </a:rPr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F15C2-E5AC-B246-B204-F81C5E621B06}"/>
              </a:ext>
            </a:extLst>
          </p:cNvPr>
          <p:cNvSpPr txBox="1"/>
          <p:nvPr/>
        </p:nvSpPr>
        <p:spPr>
          <a:xfrm>
            <a:off x="1397000" y="4622800"/>
            <a:ext cx="4826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0E1116"/>
                </a:solidFill>
              </a:rPr>
              <a:t>Hands-on practice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E0A115-9F05-464D-B4AE-4FDEC50C0E3A}"/>
              </a:ext>
            </a:extLst>
          </p:cNvPr>
          <p:cNvSpPr txBox="1"/>
          <p:nvPr/>
        </p:nvSpPr>
        <p:spPr>
          <a:xfrm>
            <a:off x="6350000" y="4648200"/>
            <a:ext cx="355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Run the loop on a seeded repo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CB5BA9-20A2-CE46-8568-BAB924547EE1}"/>
              </a:ext>
            </a:extLst>
          </p:cNvPr>
          <p:cNvSpPr txBox="1"/>
          <p:nvPr/>
        </p:nvSpPr>
        <p:spPr>
          <a:xfrm>
            <a:off x="10160000" y="4648200"/>
            <a:ext cx="127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1F6FEB"/>
                </a:solidFill>
              </a:rPr>
              <a:t>10 min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06E7936-5629-5F4B-A03D-D5AFA1C2B355}"/>
              </a:ext>
            </a:extLst>
          </p:cNvPr>
          <p:cNvSpPr/>
          <p:nvPr/>
        </p:nvSpPr>
        <p:spPr>
          <a:xfrm>
            <a:off x="762000" y="5207000"/>
            <a:ext cx="457200" cy="457200"/>
          </a:xfrm>
          <a:prstGeom prst="ellipse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AFAFA"/>
                </a:solidFill>
              </a:rPr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9C8722-A70E-5247-999D-6C6330E6E8B1}"/>
              </a:ext>
            </a:extLst>
          </p:cNvPr>
          <p:cNvSpPr txBox="1"/>
          <p:nvPr/>
        </p:nvSpPr>
        <p:spPr>
          <a:xfrm>
            <a:off x="1397000" y="5257800"/>
            <a:ext cx="4826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0E1116"/>
                </a:solidFill>
              </a:rPr>
              <a:t>Q&amp;A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0E709A0-15AE-C146-A30F-58462005E245}"/>
              </a:ext>
            </a:extLst>
          </p:cNvPr>
          <p:cNvSpPr txBox="1"/>
          <p:nvPr/>
        </p:nvSpPr>
        <p:spPr>
          <a:xfrm>
            <a:off x="6350000" y="5283200"/>
            <a:ext cx="355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Anything goes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042129E-25A7-9546-8366-7AEDE9A4840D}"/>
              </a:ext>
            </a:extLst>
          </p:cNvPr>
          <p:cNvSpPr txBox="1"/>
          <p:nvPr/>
        </p:nvSpPr>
        <p:spPr>
          <a:xfrm>
            <a:off x="10160000" y="5283200"/>
            <a:ext cx="127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1F6FEB"/>
                </a:solidFill>
              </a:rPr>
              <a:t>8 min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B1BBDB9-8436-2642-AF70-77CB187D5242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01</a:t>
            </a:r>
          </a:p>
        </p:txBody>
      </p:sp>
    </p:spTree>
    <p:extLst>
      <p:ext uri="{BB962C8B-B14F-4D97-AF65-F5344CB8AC3E}">
        <p14:creationId xmlns:p14="http://schemas.microsoft.com/office/powerpoint/2010/main" val="41705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BA8E70-ED39-9343-922D-D6C7842A2728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F6FEB"/>
                </a:solidFill>
              </a:rPr>
              <a:t>PART 01  ·  AUDIENCE CHECK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7894B3-CCE7-114C-B205-FDD38C7C9135}"/>
              </a:ext>
            </a:extLst>
          </p:cNvPr>
          <p:cNvSpPr txBox="1"/>
          <p:nvPr/>
        </p:nvSpPr>
        <p:spPr>
          <a:xfrm>
            <a:off x="762000" y="1016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0E1116"/>
                </a:solidFill>
              </a:rPr>
              <a:t>Quick show of hands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36710F-5BD0-D043-AD82-88CC18611B04}"/>
              </a:ext>
            </a:extLst>
          </p:cNvPr>
          <p:cNvSpPr/>
          <p:nvPr/>
        </p:nvSpPr>
        <p:spPr>
          <a:xfrm>
            <a:off x="762000" y="2159000"/>
            <a:ext cx="10668000" cy="8128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2DA52E5-9058-6A4B-B1D2-14D47BC45916}"/>
              </a:ext>
            </a:extLst>
          </p:cNvPr>
          <p:cNvSpPr/>
          <p:nvPr/>
        </p:nvSpPr>
        <p:spPr>
          <a:xfrm>
            <a:off x="1066800" y="2438400"/>
            <a:ext cx="254000" cy="254000"/>
          </a:xfrm>
          <a:prstGeom prst="ellipse">
            <a:avLst/>
          </a:prstGeom>
          <a:solidFill>
            <a:schemeClr val="tx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903AFE-AE94-DB47-9107-4AD9FFF50458}"/>
              </a:ext>
            </a:extLst>
          </p:cNvPr>
          <p:cNvSpPr txBox="1"/>
          <p:nvPr/>
        </p:nvSpPr>
        <p:spPr>
          <a:xfrm>
            <a:off x="1574800" y="2387600"/>
            <a:ext cx="7620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0E1116"/>
                </a:solidFill>
              </a:rPr>
              <a:t>GitHub Copilot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89BDF2-85A4-4448-9511-D751F8FED1B2}"/>
              </a:ext>
            </a:extLst>
          </p:cNvPr>
          <p:cNvSpPr txBox="1"/>
          <p:nvPr/>
        </p:nvSpPr>
        <p:spPr>
          <a:xfrm>
            <a:off x="9144000" y="2438400"/>
            <a:ext cx="228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</a:rPr>
              <a:t>Raise your hand 🖐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F68FF2-419D-A445-A82F-E326FEE4E607}"/>
              </a:ext>
            </a:extLst>
          </p:cNvPr>
          <p:cNvSpPr/>
          <p:nvPr/>
        </p:nvSpPr>
        <p:spPr>
          <a:xfrm>
            <a:off x="762000" y="3124200"/>
            <a:ext cx="10668000" cy="8128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9C712D5-4F00-D34A-A93E-AB32995C5433}"/>
              </a:ext>
            </a:extLst>
          </p:cNvPr>
          <p:cNvSpPr/>
          <p:nvPr/>
        </p:nvSpPr>
        <p:spPr>
          <a:xfrm>
            <a:off x="1066800" y="3403600"/>
            <a:ext cx="254000" cy="254000"/>
          </a:xfrm>
          <a:prstGeom prst="ellipse">
            <a:avLst/>
          </a:prstGeom>
          <a:solidFill>
            <a:schemeClr val="tx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EBB3CC-5878-0441-8C20-1595E184E3CB}"/>
              </a:ext>
            </a:extLst>
          </p:cNvPr>
          <p:cNvSpPr txBox="1"/>
          <p:nvPr/>
        </p:nvSpPr>
        <p:spPr>
          <a:xfrm>
            <a:off x="1574800" y="3352800"/>
            <a:ext cx="7620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>
                <a:solidFill>
                  <a:srgbClr val="0E1116"/>
                </a:solidFill>
              </a:rPr>
              <a:t>Cursor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325D14-1455-1141-9171-CB71CF60C5F4}"/>
              </a:ext>
            </a:extLst>
          </p:cNvPr>
          <p:cNvSpPr txBox="1"/>
          <p:nvPr/>
        </p:nvSpPr>
        <p:spPr>
          <a:xfrm>
            <a:off x="9144000" y="3403600"/>
            <a:ext cx="228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</a:rPr>
              <a:t>Raise your hand 🖐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53FBB5-E884-7E4F-BF9C-4BFC7DDB2365}"/>
              </a:ext>
            </a:extLst>
          </p:cNvPr>
          <p:cNvSpPr/>
          <p:nvPr/>
        </p:nvSpPr>
        <p:spPr>
          <a:xfrm>
            <a:off x="762000" y="4089400"/>
            <a:ext cx="10668000" cy="8128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DE8DF82-2124-B640-B6EC-78291501D922}"/>
              </a:ext>
            </a:extLst>
          </p:cNvPr>
          <p:cNvSpPr/>
          <p:nvPr/>
        </p:nvSpPr>
        <p:spPr>
          <a:xfrm>
            <a:off x="1066800" y="4368800"/>
            <a:ext cx="254000" cy="254000"/>
          </a:xfrm>
          <a:prstGeom prst="ellipse">
            <a:avLst/>
          </a:prstGeom>
          <a:solidFill>
            <a:schemeClr val="tx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A01A970-3462-4A4C-B885-031D6006FFE7}"/>
              </a:ext>
            </a:extLst>
          </p:cNvPr>
          <p:cNvSpPr txBox="1"/>
          <p:nvPr/>
        </p:nvSpPr>
        <p:spPr>
          <a:xfrm>
            <a:off x="1574800" y="4318000"/>
            <a:ext cx="7620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0E1116"/>
                </a:solidFill>
              </a:rPr>
              <a:t>Claude (any version)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5468D3-C620-974D-8927-B8E0F2017125}"/>
              </a:ext>
            </a:extLst>
          </p:cNvPr>
          <p:cNvSpPr txBox="1"/>
          <p:nvPr/>
        </p:nvSpPr>
        <p:spPr>
          <a:xfrm>
            <a:off x="9144000" y="4368800"/>
            <a:ext cx="228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</a:rPr>
              <a:t>Raise your hand 🖐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9FEFB5F-DD0B-0147-ADAF-56CA1DA5D39F}"/>
              </a:ext>
            </a:extLst>
          </p:cNvPr>
          <p:cNvSpPr/>
          <p:nvPr/>
        </p:nvSpPr>
        <p:spPr>
          <a:xfrm>
            <a:off x="762000" y="5054600"/>
            <a:ext cx="10668000" cy="8128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B53D27A-D4E1-3A4E-93F7-F80EA76899EA}"/>
              </a:ext>
            </a:extLst>
          </p:cNvPr>
          <p:cNvSpPr/>
          <p:nvPr/>
        </p:nvSpPr>
        <p:spPr>
          <a:xfrm>
            <a:off x="1066800" y="5334000"/>
            <a:ext cx="254000" cy="254000"/>
          </a:xfrm>
          <a:prstGeom prst="ellipse">
            <a:avLst/>
          </a:prstGeom>
          <a:solidFill>
            <a:srgbClr val="1F293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94AA58-8A37-6A41-9B9C-069027A59FC9}"/>
              </a:ext>
            </a:extLst>
          </p:cNvPr>
          <p:cNvSpPr txBox="1"/>
          <p:nvPr/>
        </p:nvSpPr>
        <p:spPr>
          <a:xfrm>
            <a:off x="1574800" y="5283200"/>
            <a:ext cx="7620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>
                <a:solidFill>
                  <a:srgbClr val="0E1116"/>
                </a:solidFill>
              </a:rPr>
              <a:t>Antigravity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32FA4B-79E6-A048-849A-2194B95375A9}"/>
              </a:ext>
            </a:extLst>
          </p:cNvPr>
          <p:cNvSpPr txBox="1"/>
          <p:nvPr/>
        </p:nvSpPr>
        <p:spPr>
          <a:xfrm>
            <a:off x="9144000" y="5334000"/>
            <a:ext cx="228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</a:rPr>
              <a:t>Raise your hand 🖐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3854844-5C04-CA45-BD11-04145476E1A3}"/>
              </a:ext>
            </a:extLst>
          </p:cNvPr>
          <p:cNvSpPr txBox="1"/>
          <p:nvPr/>
        </p:nvSpPr>
        <p:spPr>
          <a:xfrm>
            <a:off x="762000" y="6096000"/>
            <a:ext cx="10668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1F2937"/>
                </a:solidFill>
              </a:rPr>
              <a:t>This helps me adjust the talk. If most of you haven't used these tools, we'll go slower in the next part.</a:t>
            </a:r>
          </a:p>
        </p:txBody>
      </p:sp>
    </p:spTree>
    <p:extLst>
      <p:ext uri="{BB962C8B-B14F-4D97-AF65-F5344CB8AC3E}">
        <p14:creationId xmlns:p14="http://schemas.microsoft.com/office/powerpoint/2010/main" val="20917537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488D86-FABB-C244-939A-05DF0E794EAC}"/>
              </a:ext>
            </a:extLst>
          </p:cNvPr>
          <p:cNvSpPr/>
          <p:nvPr/>
        </p:nvSpPr>
        <p:spPr>
          <a:xfrm>
            <a:off x="0" y="0"/>
            <a:ext cx="12192000" cy="65532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396FCA-4528-F846-ADCA-B1BD59B9B434}"/>
              </a:ext>
            </a:extLst>
          </p:cNvPr>
          <p:cNvSpPr txBox="1"/>
          <p:nvPr/>
        </p:nvSpPr>
        <p:spPr>
          <a:xfrm>
            <a:off x="1016000" y="2032000"/>
            <a:ext cx="1016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1F6FEB"/>
                </a:solidFill>
              </a:rPr>
              <a:t>THE ONE IDEA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E1988D-D737-4A49-85A6-52C47D8F9A9D}"/>
              </a:ext>
            </a:extLst>
          </p:cNvPr>
          <p:cNvSpPr txBox="1"/>
          <p:nvPr/>
        </p:nvSpPr>
        <p:spPr>
          <a:xfrm>
            <a:off x="1016000" y="2540000"/>
            <a:ext cx="10160000" cy="156966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800" b="1">
                <a:solidFill>
                  <a:srgbClr val="FAFAFA"/>
                </a:solidFill>
              </a:rPr>
              <a:t>Context isn't optional. Context is the whole job.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D4F2C0-D465-FF41-BB66-11C39001CB22}"/>
              </a:ext>
            </a:extLst>
          </p:cNvPr>
          <p:cNvSpPr txBox="1"/>
          <p:nvPr/>
        </p:nvSpPr>
        <p:spPr>
          <a:xfrm>
            <a:off x="1016000" y="4318000"/>
            <a:ext cx="10160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>
                <a:solidFill>
                  <a:srgbClr val="E5E7EB"/>
                </a:solidFill>
              </a:rPr>
              <a:t>Context is not a nice-to-have. It is the product. Everything in this workshop follows from that.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CD2A12-EEA8-684B-8765-4454AEB4F5FC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01</a:t>
            </a:r>
          </a:p>
        </p:txBody>
      </p:sp>
    </p:spTree>
    <p:extLst>
      <p:ext uri="{BB962C8B-B14F-4D97-AF65-F5344CB8AC3E}">
        <p14:creationId xmlns:p14="http://schemas.microsoft.com/office/powerpoint/2010/main" val="10021789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306CA8-96EE-4B48-BD49-8B99BC03DB66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F6FEB"/>
                </a:solidFill>
              </a:rPr>
              <a:t>THE SPINE OF THE TALK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E7B427-F32A-E242-AFB7-7C57512F449C}"/>
              </a:ext>
            </a:extLst>
          </p:cNvPr>
          <p:cNvSpPr txBox="1"/>
          <p:nvPr/>
        </p:nvSpPr>
        <p:spPr>
          <a:xfrm>
            <a:off x="762000" y="1016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/>
              <a:t>Five core principles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418AD1-74CC-BA45-8BC6-24EE6734BAB2}"/>
              </a:ext>
            </a:extLst>
          </p:cNvPr>
          <p:cNvSpPr txBox="1"/>
          <p:nvPr/>
        </p:nvSpPr>
        <p:spPr>
          <a:xfrm>
            <a:off x="762000" y="2032000"/>
            <a:ext cx="762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1F6FEB"/>
                </a:solidFill>
              </a:rPr>
              <a:t>01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CDF5C3-20AC-2E44-9969-76972B3E06A3}"/>
              </a:ext>
            </a:extLst>
          </p:cNvPr>
          <p:cNvSpPr txBox="1"/>
          <p:nvPr/>
        </p:nvSpPr>
        <p:spPr>
          <a:xfrm>
            <a:off x="1651000" y="2127956"/>
            <a:ext cx="4572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/>
              <a:t>No memory between sessions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A3EF2D-9DE0-424F-9545-1209166A8F91}"/>
              </a:ext>
            </a:extLst>
          </p:cNvPr>
          <p:cNvSpPr txBox="1"/>
          <p:nvPr/>
        </p:nvSpPr>
        <p:spPr>
          <a:xfrm>
            <a:off x="6350000" y="2133600"/>
            <a:ext cx="508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Context is the product. Add it or protect it.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7266A4-84FA-F84A-BD24-7127B65AC53A}"/>
              </a:ext>
            </a:extLst>
          </p:cNvPr>
          <p:cNvSpPr txBox="1"/>
          <p:nvPr/>
        </p:nvSpPr>
        <p:spPr>
          <a:xfrm>
            <a:off x="762000" y="2857500"/>
            <a:ext cx="762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1F6FEB"/>
                </a:solidFill>
              </a:rPr>
              <a:t>02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0052E0-22CE-FE4E-80F8-9DD5002A2763}"/>
              </a:ext>
            </a:extLst>
          </p:cNvPr>
          <p:cNvSpPr txBox="1"/>
          <p:nvPr/>
        </p:nvSpPr>
        <p:spPr>
          <a:xfrm>
            <a:off x="1651000" y="2953456"/>
            <a:ext cx="4572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/>
              <a:t>Spec before code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9B0278-1204-824C-85F0-AADBEB6F63A7}"/>
              </a:ext>
            </a:extLst>
          </p:cNvPr>
          <p:cNvSpPr txBox="1"/>
          <p:nvPr/>
        </p:nvSpPr>
        <p:spPr>
          <a:xfrm>
            <a:off x="6350000" y="2959100"/>
            <a:ext cx="508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What, why, constraints, what-not-to-do, references.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667487-DE6B-3045-B1EB-6165A7ED736C}"/>
              </a:ext>
            </a:extLst>
          </p:cNvPr>
          <p:cNvSpPr txBox="1"/>
          <p:nvPr/>
        </p:nvSpPr>
        <p:spPr>
          <a:xfrm>
            <a:off x="762000" y="3683000"/>
            <a:ext cx="762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1F6FEB"/>
                </a:solidFill>
              </a:rPr>
              <a:t>03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7F0C92-B253-3543-8CC1-585BA1512F99}"/>
              </a:ext>
            </a:extLst>
          </p:cNvPr>
          <p:cNvSpPr txBox="1"/>
          <p:nvPr/>
        </p:nvSpPr>
        <p:spPr>
          <a:xfrm>
            <a:off x="1651000" y="3733800"/>
            <a:ext cx="4572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 err="1"/>
              <a:t>CLAUDE.md</a:t>
            </a:r>
            <a:r>
              <a:rPr lang="en-US" sz="2200" b="1" dirty="0"/>
              <a:t> (or </a:t>
            </a:r>
            <a:r>
              <a:rPr lang="en-US" sz="2200" b="1" dirty="0" err="1"/>
              <a:t>AGENTS.md</a:t>
            </a:r>
            <a:r>
              <a:rPr lang="en-US" sz="2200" b="1" dirty="0"/>
              <a:t>) is the shared brain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D7D3E1-2D3E-604D-9F19-2187D6B2228D}"/>
              </a:ext>
            </a:extLst>
          </p:cNvPr>
          <p:cNvSpPr txBox="1"/>
          <p:nvPr/>
        </p:nvSpPr>
        <p:spPr>
          <a:xfrm>
            <a:off x="6350000" y="3784600"/>
            <a:ext cx="508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Treat it like a README, for the AI.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C3DC07-2701-C144-9F14-84CAEA8915F9}"/>
              </a:ext>
            </a:extLst>
          </p:cNvPr>
          <p:cNvSpPr txBox="1"/>
          <p:nvPr/>
        </p:nvSpPr>
        <p:spPr>
          <a:xfrm>
            <a:off x="762000" y="4508500"/>
            <a:ext cx="762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1F6FEB"/>
                </a:solidFill>
              </a:rPr>
              <a:t>04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791C96-EE83-3040-9BF8-90F8BCD9CCB5}"/>
              </a:ext>
            </a:extLst>
          </p:cNvPr>
          <p:cNvSpPr txBox="1"/>
          <p:nvPr/>
        </p:nvSpPr>
        <p:spPr>
          <a:xfrm>
            <a:off x="1651000" y="4627034"/>
            <a:ext cx="4572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/>
              <a:t>Review is not optional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0BF0FA4-9D57-C44E-9BB5-AB43091216E1}"/>
              </a:ext>
            </a:extLst>
          </p:cNvPr>
          <p:cNvSpPr txBox="1"/>
          <p:nvPr/>
        </p:nvSpPr>
        <p:spPr>
          <a:xfrm>
            <a:off x="6350000" y="4610100"/>
            <a:ext cx="5080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AI writes wrong code that looks correct — and sounds sure of itself.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4B4555-54C5-0743-937D-6DB7C0142848}"/>
              </a:ext>
            </a:extLst>
          </p:cNvPr>
          <p:cNvSpPr txBox="1"/>
          <p:nvPr/>
        </p:nvSpPr>
        <p:spPr>
          <a:xfrm>
            <a:off x="762000" y="5334000"/>
            <a:ext cx="762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1F6FEB"/>
                </a:solidFill>
              </a:rPr>
              <a:t>05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47D22B-EF37-7440-BD56-49D0F65A680D}"/>
              </a:ext>
            </a:extLst>
          </p:cNvPr>
          <p:cNvSpPr txBox="1"/>
          <p:nvPr/>
        </p:nvSpPr>
        <p:spPr>
          <a:xfrm>
            <a:off x="1651000" y="5463823"/>
            <a:ext cx="4572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/>
              <a:t>Plans belong in git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EC1F7E-1DE0-CA48-BB2F-A36C25650E9D}"/>
              </a:ext>
            </a:extLst>
          </p:cNvPr>
          <p:cNvSpPr txBox="1"/>
          <p:nvPr/>
        </p:nvSpPr>
        <p:spPr>
          <a:xfrm>
            <a:off x="6350000" y="5435600"/>
            <a:ext cx="508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Chats disappear. Commits stay. Decisions get committed.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8AAA946-8AEC-2241-A910-5E3A4581DC8D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01</a:t>
            </a:r>
          </a:p>
        </p:txBody>
      </p:sp>
    </p:spTree>
    <p:extLst>
      <p:ext uri="{BB962C8B-B14F-4D97-AF65-F5344CB8AC3E}">
        <p14:creationId xmlns:p14="http://schemas.microsoft.com/office/powerpoint/2010/main" val="2205879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537049-75F7-1746-9ADC-412699D85000}"/>
              </a:ext>
            </a:extLst>
          </p:cNvPr>
          <p:cNvSpPr txBox="1"/>
          <p:nvPr/>
        </p:nvSpPr>
        <p:spPr>
          <a:xfrm>
            <a:off x="762000" y="2032000"/>
            <a:ext cx="3048000" cy="2794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20000" b="1">
                <a:solidFill>
                  <a:srgbClr val="1F6FEB"/>
                </a:solidFill>
              </a:rPr>
              <a:t>02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399AEA-EAE5-204D-AEA2-8BE912DC3D5D}"/>
              </a:ext>
            </a:extLst>
          </p:cNvPr>
          <p:cNvSpPr txBox="1"/>
          <p:nvPr/>
        </p:nvSpPr>
        <p:spPr>
          <a:xfrm>
            <a:off x="4064000" y="2540000"/>
            <a:ext cx="736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1F6FEB"/>
                </a:solidFill>
              </a:rPr>
              <a:t>PART 02  ·  8 MIN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A766DF-42C9-4E47-BC3C-8610992ECA01}"/>
              </a:ext>
            </a:extLst>
          </p:cNvPr>
          <p:cNvSpPr txBox="1"/>
          <p:nvPr/>
        </p:nvSpPr>
        <p:spPr>
          <a:xfrm>
            <a:off x="4064000" y="2921000"/>
            <a:ext cx="7366000" cy="95410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5600" b="1"/>
              <a:t>Prompting essentials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C43DD8-B900-5248-B6EF-DE25FE8C0DEE}"/>
              </a:ext>
            </a:extLst>
          </p:cNvPr>
          <p:cNvSpPr txBox="1"/>
          <p:nvPr/>
        </p:nvSpPr>
        <p:spPr>
          <a:xfrm>
            <a:off x="4064000" y="4064000"/>
            <a:ext cx="7366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>
                <a:solidFill>
                  <a:srgbClr val="1F2937"/>
                </a:solidFill>
              </a:rPr>
              <a:t>Four habits that separate wasted time from useful output.</a:t>
            </a:r>
          </a:p>
        </p:txBody>
      </p:sp>
    </p:spTree>
    <p:extLst>
      <p:ext uri="{BB962C8B-B14F-4D97-AF65-F5344CB8AC3E}">
        <p14:creationId xmlns:p14="http://schemas.microsoft.com/office/powerpoint/2010/main" val="468119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8F8EE0F-D009-8344-9E94-991BEE57AB69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F6FEB"/>
                </a:solidFill>
              </a:rPr>
              <a:t>FOUR HABITS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A631DA-525D-714A-B459-2C6ECEC0E35D}"/>
              </a:ext>
            </a:extLst>
          </p:cNvPr>
          <p:cNvSpPr txBox="1"/>
          <p:nvPr/>
        </p:nvSpPr>
        <p:spPr>
          <a:xfrm>
            <a:off x="762000" y="1016000"/>
            <a:ext cx="10668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/>
              <a:t>How to prompt without wasting half your session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72197C-66B3-4F46-AE33-D3DBAF37B921}"/>
              </a:ext>
            </a:extLst>
          </p:cNvPr>
          <p:cNvSpPr/>
          <p:nvPr/>
        </p:nvSpPr>
        <p:spPr>
          <a:xfrm>
            <a:off x="762000" y="1968500"/>
            <a:ext cx="5080000" cy="1841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2ACFD0-3406-134D-8285-81DD1BE3A88A}"/>
              </a:ext>
            </a:extLst>
          </p:cNvPr>
          <p:cNvSpPr txBox="1"/>
          <p:nvPr/>
        </p:nvSpPr>
        <p:spPr>
          <a:xfrm>
            <a:off x="1016000" y="2146300"/>
            <a:ext cx="762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1F6FEB"/>
                </a:solidFill>
              </a:rPr>
              <a:t>01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3B670A-B6E0-7241-A5DC-48C3D6CB47C1}"/>
              </a:ext>
            </a:extLst>
          </p:cNvPr>
          <p:cNvSpPr txBox="1"/>
          <p:nvPr/>
        </p:nvSpPr>
        <p:spPr>
          <a:xfrm>
            <a:off x="1016000" y="2451100"/>
            <a:ext cx="4572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Be specific about what AND why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9C5828-5841-554D-AE5C-A7616760E31B}"/>
              </a:ext>
            </a:extLst>
          </p:cNvPr>
          <p:cNvSpPr txBox="1"/>
          <p:nvPr/>
        </p:nvSpPr>
        <p:spPr>
          <a:xfrm>
            <a:off x="1016000" y="2859084"/>
            <a:ext cx="4572000" cy="92333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dirty="0">
                <a:solidFill>
                  <a:srgbClr val="1F2937"/>
                </a:solidFill>
              </a:rPr>
              <a:t>“Fix this bug” → “Function returns null on empty array; caller expects []. Don’t change the signature.”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0A4946-DA66-6143-8242-9B8AB6B1D026}"/>
              </a:ext>
            </a:extLst>
          </p:cNvPr>
          <p:cNvSpPr/>
          <p:nvPr/>
        </p:nvSpPr>
        <p:spPr>
          <a:xfrm>
            <a:off x="6096000" y="1968500"/>
            <a:ext cx="5080000" cy="1841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B17FA0-30F9-EA45-89B1-9C03832A618C}"/>
              </a:ext>
            </a:extLst>
          </p:cNvPr>
          <p:cNvSpPr txBox="1"/>
          <p:nvPr/>
        </p:nvSpPr>
        <p:spPr>
          <a:xfrm>
            <a:off x="6350000" y="2146300"/>
            <a:ext cx="762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1F6FEB"/>
                </a:solidFill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226220-C90D-6D4A-9298-9078ED7149D1}"/>
              </a:ext>
            </a:extLst>
          </p:cNvPr>
          <p:cNvSpPr txBox="1"/>
          <p:nvPr/>
        </p:nvSpPr>
        <p:spPr>
          <a:xfrm>
            <a:off x="6350000" y="2451100"/>
            <a:ext cx="4572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Give one example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5192CE-551A-004E-929C-6C813177DE2D}"/>
              </a:ext>
            </a:extLst>
          </p:cNvPr>
          <p:cNvSpPr txBox="1"/>
          <p:nvPr/>
        </p:nvSpPr>
        <p:spPr>
          <a:xfrm>
            <a:off x="6350000" y="2873372"/>
            <a:ext cx="4572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dirty="0">
                <a:solidFill>
                  <a:srgbClr val="1F2937"/>
                </a:solidFill>
              </a:rPr>
              <a:t>One concrete input/output beats three paragraphs of description. Works for code, tone, formatting.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82ED93-2FA8-1D41-AC76-6534658EB9E4}"/>
              </a:ext>
            </a:extLst>
          </p:cNvPr>
          <p:cNvSpPr/>
          <p:nvPr/>
        </p:nvSpPr>
        <p:spPr>
          <a:xfrm>
            <a:off x="762000" y="4064000"/>
            <a:ext cx="5080000" cy="1841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05BAD5-7B30-6543-963B-0E3A7E280481}"/>
              </a:ext>
            </a:extLst>
          </p:cNvPr>
          <p:cNvSpPr txBox="1"/>
          <p:nvPr/>
        </p:nvSpPr>
        <p:spPr>
          <a:xfrm>
            <a:off x="1016000" y="4241800"/>
            <a:ext cx="762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1F6FEB"/>
                </a:solidFill>
              </a:rPr>
              <a:t>03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71F071-C740-564A-97D9-15D022C16871}"/>
              </a:ext>
            </a:extLst>
          </p:cNvPr>
          <p:cNvSpPr txBox="1"/>
          <p:nvPr/>
        </p:nvSpPr>
        <p:spPr>
          <a:xfrm>
            <a:off x="1016000" y="4546600"/>
            <a:ext cx="4572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State constraints and exclusions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839398-927D-9148-A6EC-570906FB8050}"/>
              </a:ext>
            </a:extLst>
          </p:cNvPr>
          <p:cNvSpPr txBox="1"/>
          <p:nvPr/>
        </p:nvSpPr>
        <p:spPr>
          <a:xfrm>
            <a:off x="1016000" y="4968872"/>
            <a:ext cx="4572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dirty="0">
                <a:solidFill>
                  <a:srgbClr val="1F2937"/>
                </a:solidFill>
              </a:rPr>
              <a:t>“Don’t add new dependencies. Don’t touch auth.” What NOT to do is as valuable as what to do.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2040049-4288-B24A-8174-7FEC32AE9B4D}"/>
              </a:ext>
            </a:extLst>
          </p:cNvPr>
          <p:cNvSpPr/>
          <p:nvPr/>
        </p:nvSpPr>
        <p:spPr>
          <a:xfrm>
            <a:off x="6096000" y="4064000"/>
            <a:ext cx="5080000" cy="1841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99A576-1F22-EF46-A266-6BB43F4AA97D}"/>
              </a:ext>
            </a:extLst>
          </p:cNvPr>
          <p:cNvSpPr txBox="1"/>
          <p:nvPr/>
        </p:nvSpPr>
        <p:spPr>
          <a:xfrm>
            <a:off x="6350000" y="4241800"/>
            <a:ext cx="762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1F6FEB"/>
                </a:solidFill>
              </a:rPr>
              <a:t>04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B9CAC9-14B0-C146-A3A9-4531EE238087}"/>
              </a:ext>
            </a:extLst>
          </p:cNvPr>
          <p:cNvSpPr txBox="1"/>
          <p:nvPr/>
        </p:nvSpPr>
        <p:spPr>
          <a:xfrm>
            <a:off x="6350000" y="4546600"/>
            <a:ext cx="4572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Iterate, don’t restart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12A977-7781-3E4A-A153-6E649EF18C17}"/>
              </a:ext>
            </a:extLst>
          </p:cNvPr>
          <p:cNvSpPr txBox="1"/>
          <p:nvPr/>
        </p:nvSpPr>
        <p:spPr>
          <a:xfrm>
            <a:off x="6350000" y="4968872"/>
            <a:ext cx="4572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1F2937"/>
                </a:solidFill>
              </a:rPr>
              <a:t>Refine in place. A fresh chat throws away everything the model has learned this session.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729461-AF1F-A841-A69F-95193494A7B5}"/>
              </a:ext>
            </a:extLst>
          </p:cNvPr>
          <p:cNvSpPr/>
          <p:nvPr/>
        </p:nvSpPr>
        <p:spPr>
          <a:xfrm>
            <a:off x="9652000" y="635000"/>
            <a:ext cx="1778000" cy="3556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FAFAFA"/>
                </a:solidFill>
              </a:rPr>
              <a:t>🎬 DEMO #1 NEXT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7679D5-1C48-8C4D-B4DA-1EB831D05DDF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02</a:t>
            </a:r>
          </a:p>
        </p:txBody>
      </p:sp>
    </p:spTree>
    <p:extLst>
      <p:ext uri="{BB962C8B-B14F-4D97-AF65-F5344CB8AC3E}">
        <p14:creationId xmlns:p14="http://schemas.microsoft.com/office/powerpoint/2010/main" val="39721194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8B7750-88A5-5A45-8022-490253D4A50A}"/>
              </a:ext>
            </a:extLst>
          </p:cNvPr>
          <p:cNvSpPr txBox="1"/>
          <p:nvPr/>
        </p:nvSpPr>
        <p:spPr>
          <a:xfrm>
            <a:off x="762000" y="2032000"/>
            <a:ext cx="3048000" cy="2794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20000" b="1">
                <a:solidFill>
                  <a:srgbClr val="1F6FEB"/>
                </a:solidFill>
              </a:rPr>
              <a:t>03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07A862-09E7-7B4C-8DD7-E67B1B3DF2D5}"/>
              </a:ext>
            </a:extLst>
          </p:cNvPr>
          <p:cNvSpPr txBox="1"/>
          <p:nvPr/>
        </p:nvSpPr>
        <p:spPr>
          <a:xfrm>
            <a:off x="4064000" y="2540000"/>
            <a:ext cx="736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1F6FEB"/>
                </a:solidFill>
              </a:rPr>
              <a:t>PART 03  ·  12 MIN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EDF5E7-2875-604F-97CE-06E275341788}"/>
              </a:ext>
            </a:extLst>
          </p:cNvPr>
          <p:cNvSpPr txBox="1"/>
          <p:nvPr/>
        </p:nvSpPr>
        <p:spPr>
          <a:xfrm>
            <a:off x="4064000" y="2921000"/>
            <a:ext cx="7366000" cy="95410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5600" b="1"/>
              <a:t>Context files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9F40EB-A683-0B4B-8612-A6DA6CBAAE73}"/>
              </a:ext>
            </a:extLst>
          </p:cNvPr>
          <p:cNvSpPr txBox="1"/>
          <p:nvPr/>
        </p:nvSpPr>
        <p:spPr>
          <a:xfrm>
            <a:off x="4064000" y="4064000"/>
            <a:ext cx="7366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dirty="0">
                <a:solidFill>
                  <a:srgbClr val="1F2937"/>
                </a:solidFill>
              </a:rPr>
              <a:t>How the AI knows about your project.</a:t>
            </a:r>
          </a:p>
        </p:txBody>
      </p:sp>
    </p:spTree>
    <p:extLst>
      <p:ext uri="{BB962C8B-B14F-4D97-AF65-F5344CB8AC3E}">
        <p14:creationId xmlns:p14="http://schemas.microsoft.com/office/powerpoint/2010/main" val="4205335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07ECEC-01D4-CE49-A4BC-5B4D81897A25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F6FEB"/>
                </a:solidFill>
              </a:rPr>
              <a:t>THE PROBLEM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B9601E-135E-9541-A06D-219D459793D6}"/>
              </a:ext>
            </a:extLst>
          </p:cNvPr>
          <p:cNvSpPr txBox="1"/>
          <p:nvPr/>
        </p:nvSpPr>
        <p:spPr>
          <a:xfrm>
            <a:off x="762000" y="1016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/>
              <a:t>Every new session starts blank.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3053AF-80D5-BB46-8660-6A1F7C5B5A52}"/>
              </a:ext>
            </a:extLst>
          </p:cNvPr>
          <p:cNvSpPr txBox="1"/>
          <p:nvPr/>
        </p:nvSpPr>
        <p:spPr>
          <a:xfrm>
            <a:off x="762000" y="1841500"/>
            <a:ext cx="10668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dirty="0">
                <a:solidFill>
                  <a:srgbClr val="1F2937"/>
                </a:solidFill>
              </a:rPr>
              <a:t>You re-explain the stack, the conventions, the pitfalls, every time.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7183E3-9028-8148-A426-F099133DAE26}"/>
              </a:ext>
            </a:extLst>
          </p:cNvPr>
          <p:cNvSpPr/>
          <p:nvPr/>
        </p:nvSpPr>
        <p:spPr>
          <a:xfrm>
            <a:off x="762000" y="2540000"/>
            <a:ext cx="5080000" cy="3175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CFBBBE-ADEE-2340-A656-B916053FDA22}"/>
              </a:ext>
            </a:extLst>
          </p:cNvPr>
          <p:cNvSpPr/>
          <p:nvPr/>
        </p:nvSpPr>
        <p:spPr>
          <a:xfrm>
            <a:off x="762000" y="2540000"/>
            <a:ext cx="76200" cy="31750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39F83E-4101-8C43-95B9-41BECFE66B3D}"/>
              </a:ext>
            </a:extLst>
          </p:cNvPr>
          <p:cNvSpPr txBox="1"/>
          <p:nvPr/>
        </p:nvSpPr>
        <p:spPr>
          <a:xfrm>
            <a:off x="1066800" y="2768600"/>
            <a:ext cx="4572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0E1116"/>
                </a:solidFill>
              </a:rPr>
              <a:t>WITHOUT a context file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84E3D7-0450-4846-A604-FC5C8AF168BE}"/>
              </a:ext>
            </a:extLst>
          </p:cNvPr>
          <p:cNvSpPr txBox="1"/>
          <p:nvPr/>
        </p:nvSpPr>
        <p:spPr>
          <a:xfrm>
            <a:off x="1066800" y="3251200"/>
            <a:ext cx="4572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0E1116"/>
                </a:solidFill>
              </a:rPr>
              <a:t>·  Re-explain the project on every prompt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88B4D6-A543-B541-AA67-322E2D8471FF}"/>
              </a:ext>
            </a:extLst>
          </p:cNvPr>
          <p:cNvSpPr txBox="1"/>
          <p:nvPr/>
        </p:nvSpPr>
        <p:spPr>
          <a:xfrm>
            <a:off x="1066800" y="3784600"/>
            <a:ext cx="4572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dirty="0">
                <a:solidFill>
                  <a:srgbClr val="0E1116"/>
                </a:solidFill>
              </a:rPr>
              <a:t>·  AI guesses your stack, your style, your </a:t>
            </a:r>
            <a:r>
              <a:rPr lang="en-AU" dirty="0"/>
              <a:t>pitfalls</a:t>
            </a:r>
            <a:endParaRPr lang="en-US" dirty="0">
              <a:solidFill>
                <a:srgbClr val="0E1116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F58612-98D9-474E-A644-B46951B79E13}"/>
              </a:ext>
            </a:extLst>
          </p:cNvPr>
          <p:cNvSpPr txBox="1"/>
          <p:nvPr/>
        </p:nvSpPr>
        <p:spPr>
          <a:xfrm>
            <a:off x="1066800" y="4318000"/>
            <a:ext cx="4572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0E1116"/>
                </a:solidFill>
              </a:rPr>
              <a:t>·  Same mistake, every new session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4E1DD2-F1FC-0A40-BFF9-B882652E7BB6}"/>
              </a:ext>
            </a:extLst>
          </p:cNvPr>
          <p:cNvSpPr txBox="1"/>
          <p:nvPr/>
        </p:nvSpPr>
        <p:spPr>
          <a:xfrm>
            <a:off x="1066800" y="4851400"/>
            <a:ext cx="4572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dirty="0">
                <a:solidFill>
                  <a:srgbClr val="0E1116"/>
                </a:solidFill>
              </a:rPr>
              <a:t>·  You waste tokens explaining the same thing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44D5BF2-657A-174D-B74C-D294ABD9B207}"/>
              </a:ext>
            </a:extLst>
          </p:cNvPr>
          <p:cNvSpPr/>
          <p:nvPr/>
        </p:nvSpPr>
        <p:spPr>
          <a:xfrm>
            <a:off x="6096000" y="2540000"/>
            <a:ext cx="5080000" cy="3175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64AC248-3783-9846-89A6-1FC9718DD4BE}"/>
              </a:ext>
            </a:extLst>
          </p:cNvPr>
          <p:cNvSpPr/>
          <p:nvPr/>
        </p:nvSpPr>
        <p:spPr>
          <a:xfrm>
            <a:off x="6096000" y="2540000"/>
            <a:ext cx="76200" cy="3175000"/>
          </a:xfrm>
          <a:prstGeom prst="rect">
            <a:avLst/>
          </a:prstGeom>
          <a:solidFill>
            <a:srgbClr val="1F6F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69C440-1E59-0844-9BA9-FE7227446174}"/>
              </a:ext>
            </a:extLst>
          </p:cNvPr>
          <p:cNvSpPr txBox="1"/>
          <p:nvPr/>
        </p:nvSpPr>
        <p:spPr>
          <a:xfrm>
            <a:off x="6400800" y="2768600"/>
            <a:ext cx="4572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F6FEB"/>
                </a:solidFill>
              </a:rPr>
              <a:t>WITH a context file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E3BCB6-5D66-084A-8C50-84EA325242BF}"/>
              </a:ext>
            </a:extLst>
          </p:cNvPr>
          <p:cNvSpPr txBox="1"/>
          <p:nvPr/>
        </p:nvSpPr>
        <p:spPr>
          <a:xfrm>
            <a:off x="6400800" y="3251200"/>
            <a:ext cx="4572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0E1116"/>
                </a:solidFill>
              </a:rPr>
              <a:t>·  Project memory loaded automatically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4BF0C9-079E-894E-9E0F-06A76DDE5C7A}"/>
              </a:ext>
            </a:extLst>
          </p:cNvPr>
          <p:cNvSpPr txBox="1"/>
          <p:nvPr/>
        </p:nvSpPr>
        <p:spPr>
          <a:xfrm>
            <a:off x="6400800" y="3784600"/>
            <a:ext cx="4572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0E1116"/>
                </a:solidFill>
              </a:rPr>
              <a:t>·  Conventions and constraints up front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067B26-E4BB-3A4B-B5E1-F3B860EBB65D}"/>
              </a:ext>
            </a:extLst>
          </p:cNvPr>
          <p:cNvSpPr txBox="1"/>
          <p:nvPr/>
        </p:nvSpPr>
        <p:spPr>
          <a:xfrm>
            <a:off x="6400800" y="4318000"/>
            <a:ext cx="4572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0E1116"/>
                </a:solidFill>
              </a:rPr>
              <a:t>·  AI starts informed, not from zero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C94E65-9C45-C240-8790-27CA76E37F27}"/>
              </a:ext>
            </a:extLst>
          </p:cNvPr>
          <p:cNvSpPr txBox="1"/>
          <p:nvPr/>
        </p:nvSpPr>
        <p:spPr>
          <a:xfrm>
            <a:off x="6400800" y="4851400"/>
            <a:ext cx="4572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0E1116"/>
                </a:solidFill>
              </a:rPr>
              <a:t>·  Write it once, every session benefits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FA0F6CD-A186-DB48-B7B9-403C1F583486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03</a:t>
            </a:r>
          </a:p>
        </p:txBody>
      </p:sp>
    </p:spTree>
    <p:extLst>
      <p:ext uri="{BB962C8B-B14F-4D97-AF65-F5344CB8AC3E}">
        <p14:creationId xmlns:p14="http://schemas.microsoft.com/office/powerpoint/2010/main" val="2137552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34F410-0B35-5A40-A0A5-6AAE342769EC}"/>
              </a:ext>
            </a:extLst>
          </p:cNvPr>
          <p:cNvSpPr txBox="1"/>
          <p:nvPr/>
        </p:nvSpPr>
        <p:spPr>
          <a:xfrm>
            <a:off x="762000" y="508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F6FEB"/>
                </a:solidFill>
              </a:rPr>
              <a:t>CONTEXT FILES BY TOOL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E4D73B-B7F6-EC42-B9BC-903255637046}"/>
              </a:ext>
            </a:extLst>
          </p:cNvPr>
          <p:cNvSpPr txBox="1"/>
          <p:nvPr/>
        </p:nvSpPr>
        <p:spPr>
          <a:xfrm>
            <a:off x="762000" y="863600"/>
            <a:ext cx="10668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/>
              <a:t>Same problem. Different filenames.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053187A-EC3D-A74F-9AB4-3E61EB55E311}"/>
              </a:ext>
            </a:extLst>
          </p:cNvPr>
          <p:cNvGraphicFramePr>
            <a:graphicFrameLocks noGrp="1"/>
          </p:cNvGraphicFramePr>
          <p:nvPr/>
        </p:nvGraphicFramePr>
        <p:xfrm>
          <a:off x="762000" y="1651000"/>
          <a:ext cx="10668000" cy="3483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0">
                  <a:extLst>
                    <a:ext uri="{9D8B030D-6E8A-4147-A177-3AD203B41FA5}">
                      <a16:colId xmlns:a16="http://schemas.microsoft.com/office/drawing/2014/main" val="2489336925"/>
                    </a:ext>
                  </a:extLst>
                </a:gridCol>
                <a:gridCol w="3556000">
                  <a:extLst>
                    <a:ext uri="{9D8B030D-6E8A-4147-A177-3AD203B41FA5}">
                      <a16:colId xmlns:a16="http://schemas.microsoft.com/office/drawing/2014/main" val="1184466249"/>
                    </a:ext>
                  </a:extLst>
                </a:gridCol>
                <a:gridCol w="3556000">
                  <a:extLst>
                    <a:ext uri="{9D8B030D-6E8A-4147-A177-3AD203B41FA5}">
                      <a16:colId xmlns:a16="http://schemas.microsoft.com/office/drawing/2014/main" val="1315543858"/>
                    </a:ext>
                  </a:extLst>
                </a:gridCol>
              </a:tblGrid>
              <a:tr h="580570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FAFAFA"/>
                          </a:solidFill>
                        </a:rPr>
                        <a:t>Tool</a:t>
                      </a:r>
                    </a:p>
                  </a:txBody>
                  <a:tcPr anchor="ctr"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>
                          <a:solidFill>
                            <a:srgbClr val="FAFAFA"/>
                          </a:solidFill>
                        </a:rPr>
                        <a:t>Project memory</a:t>
                      </a:r>
                    </a:p>
                  </a:txBody>
                  <a:tcPr anchor="ctr"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>
                          <a:solidFill>
                            <a:srgbClr val="FAFAFA"/>
                          </a:solidFill>
                        </a:rPr>
                        <a:t>Scoped rules</a:t>
                      </a:r>
                    </a:p>
                  </a:txBody>
                  <a:tcPr anchor="ctr">
                    <a:solidFill>
                      <a:srgbClr val="0E11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4733728"/>
                  </a:ext>
                </a:extLst>
              </a:tr>
              <a:tr h="580570"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E1116"/>
                          </a:solidFill>
                        </a:rPr>
                        <a:t>Claude Code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>
                          <a:solidFill>
                            <a:srgbClr val="0E1116"/>
                          </a:solidFill>
                        </a:rPr>
                        <a:t>CLAUDE.md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E1116"/>
                          </a:solidFill>
                        </a:rPr>
                        <a:t>.</a:t>
                      </a:r>
                      <a:r>
                        <a:rPr lang="en-US" sz="1600" dirty="0" err="1">
                          <a:solidFill>
                            <a:srgbClr val="0E1116"/>
                          </a:solidFill>
                        </a:rPr>
                        <a:t>claude</a:t>
                      </a:r>
                      <a:r>
                        <a:rPr lang="en-US" sz="1600" dirty="0">
                          <a:solidFill>
                            <a:srgbClr val="0E1116"/>
                          </a:solidFill>
                        </a:rPr>
                        <a:t>/rules/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8847678"/>
                  </a:ext>
                </a:extLst>
              </a:tr>
              <a:tr h="580570">
                <a:tc>
                  <a:txBody>
                    <a:bodyPr/>
                    <a:lstStyle/>
                    <a:p>
                      <a:pPr algn="l"/>
                      <a:r>
                        <a:rPr lang="en-US" sz="1600">
                          <a:solidFill>
                            <a:srgbClr val="0E1116"/>
                          </a:solidFill>
                        </a:rPr>
                        <a:t>Cursor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.cursor/rules/*.mdc · .</a:t>
                      </a:r>
                      <a:r>
                        <a:rPr lang="en-US" sz="1400" dirty="0" err="1"/>
                        <a:t>cursorrules</a:t>
                      </a:r>
                      <a:r>
                        <a:rPr lang="en-US" sz="1400" dirty="0"/>
                        <a:t> (legacy)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E1116"/>
                          </a:solidFill>
                        </a:rPr>
                        <a:t>.cursor/rules/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96433"/>
                  </a:ext>
                </a:extLst>
              </a:tr>
              <a:tr h="580570">
                <a:tc>
                  <a:txBody>
                    <a:bodyPr/>
                    <a:lstStyle/>
                    <a:p>
                      <a:pPr algn="l"/>
                      <a:r>
                        <a:rPr lang="en-US" sz="1600">
                          <a:solidFill>
                            <a:srgbClr val="0E1116"/>
                          </a:solidFill>
                        </a:rPr>
                        <a:t>GitHub Copilot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E1116"/>
                          </a:solidFill>
                        </a:rPr>
                        <a:t>.</a:t>
                      </a:r>
                      <a:r>
                        <a:rPr lang="en-US" sz="1600" dirty="0" err="1">
                          <a:solidFill>
                            <a:srgbClr val="0E1116"/>
                          </a:solidFill>
                        </a:rPr>
                        <a:t>github</a:t>
                      </a:r>
                      <a:r>
                        <a:rPr lang="en-US" sz="1600" dirty="0">
                          <a:solidFill>
                            <a:srgbClr val="0E1116"/>
                          </a:solidFill>
                        </a:rPr>
                        <a:t>/copilot-</a:t>
                      </a:r>
                      <a:r>
                        <a:rPr lang="en-US" sz="1600" dirty="0" err="1">
                          <a:solidFill>
                            <a:srgbClr val="0E1116"/>
                          </a:solidFill>
                        </a:rPr>
                        <a:t>instructions.md</a:t>
                      </a:r>
                      <a:endParaRPr lang="en-US" sz="1600" dirty="0">
                        <a:solidFill>
                          <a:srgbClr val="0E111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>
                          <a:solidFill>
                            <a:srgbClr val="0E1116"/>
                          </a:solidFill>
                        </a:rPr>
                        <a:t>.github/instructions/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7158369"/>
                  </a:ext>
                </a:extLst>
              </a:tr>
              <a:tr h="580570"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E1116"/>
                          </a:solidFill>
                        </a:rPr>
                        <a:t>Antigravity (Google)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>
                          <a:solidFill>
                            <a:srgbClr val="0E1116"/>
                          </a:solidFill>
                        </a:rPr>
                        <a:t>GEMINI.md · AGENTS.md (native)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E1116"/>
                          </a:solidFill>
                        </a:rPr>
                        <a:t>.agent/rules/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3291169"/>
                  </a:ext>
                </a:extLst>
              </a:tr>
              <a:tr h="580570">
                <a:tc>
                  <a:txBody>
                    <a:bodyPr/>
                    <a:lstStyle/>
                    <a:p>
                      <a:r>
                        <a:rPr lang="en-US" sz="1400" b="1" dirty="0" err="1">
                          <a:solidFill>
                            <a:srgbClr val="FFFFFF"/>
                          </a:solidFill>
                        </a:rPr>
                        <a:t>AGENTS.md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 · cross-tool standard</a:t>
                      </a:r>
                    </a:p>
                  </a:txBody>
                  <a:tcPr anchor="ctr"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</a:rPr>
                        <a:t>AGENTS.md</a:t>
                      </a:r>
                    </a:p>
                  </a:txBody>
                  <a:tcPr anchor="ctr"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Linux Foundation · 60k+ repos</a:t>
                      </a:r>
                    </a:p>
                  </a:txBody>
                  <a:tcPr anchor="ctr">
                    <a:solidFill>
                      <a:srgbClr val="1F6F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226456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F4DA10C-DC05-1A45-BCAF-A9AE4FB35F25}"/>
              </a:ext>
            </a:extLst>
          </p:cNvPr>
          <p:cNvSpPr txBox="1"/>
          <p:nvPr/>
        </p:nvSpPr>
        <p:spPr>
          <a:xfrm>
            <a:off x="762000" y="5825123"/>
            <a:ext cx="1066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 dirty="0">
                <a:solidFill>
                  <a:srgbClr val="1F2937"/>
                </a:solidFill>
              </a:rPr>
              <a:t>The filename doesn't matter. The habit is the same everywhere. Write the project's brain down once.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3D7886-32A4-E04F-8740-90D7AF8DC7E5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03</a:t>
            </a:r>
          </a:p>
        </p:txBody>
      </p:sp>
    </p:spTree>
    <p:extLst>
      <p:ext uri="{BB962C8B-B14F-4D97-AF65-F5344CB8AC3E}">
        <p14:creationId xmlns:p14="http://schemas.microsoft.com/office/powerpoint/2010/main" val="12593853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C58E27-42A7-EF43-AE59-CEE793D56EEF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F6FEB"/>
                </a:solidFill>
              </a:rPr>
              <a:t>INSIDE A CLAUDE.MD / AGENTS.MD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89EEF7-503D-E54D-8A34-4E7010E5F7E3}"/>
              </a:ext>
            </a:extLst>
          </p:cNvPr>
          <p:cNvSpPr txBox="1"/>
          <p:nvPr/>
        </p:nvSpPr>
        <p:spPr>
          <a:xfrm>
            <a:off x="762000" y="1016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/>
              <a:t>A README, for the AI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AFECA02-ECD0-F84F-B4F6-A8605E109796}"/>
              </a:ext>
            </a:extLst>
          </p:cNvPr>
          <p:cNvSpPr/>
          <p:nvPr/>
        </p:nvSpPr>
        <p:spPr>
          <a:xfrm>
            <a:off x="762000" y="2006600"/>
            <a:ext cx="127000" cy="127000"/>
          </a:xfrm>
          <a:prstGeom prst="ellipse">
            <a:avLst/>
          </a:prstGeom>
          <a:solidFill>
            <a:srgbClr val="1F6F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A58734-8536-2741-BBEC-A02315684944}"/>
              </a:ext>
            </a:extLst>
          </p:cNvPr>
          <p:cNvSpPr txBox="1"/>
          <p:nvPr/>
        </p:nvSpPr>
        <p:spPr>
          <a:xfrm>
            <a:off x="1066800" y="1905000"/>
            <a:ext cx="4572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Project overview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0C8CE2-4F03-2B42-9769-64776510C1DD}"/>
              </a:ext>
            </a:extLst>
          </p:cNvPr>
          <p:cNvSpPr txBox="1"/>
          <p:nvPr/>
        </p:nvSpPr>
        <p:spPr>
          <a:xfrm>
            <a:off x="1066800" y="2286000"/>
            <a:ext cx="4572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What this codebase is. What it does.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071D6B8-0D53-0C4D-8BE1-AD844874F911}"/>
              </a:ext>
            </a:extLst>
          </p:cNvPr>
          <p:cNvSpPr/>
          <p:nvPr/>
        </p:nvSpPr>
        <p:spPr>
          <a:xfrm>
            <a:off x="762000" y="2819400"/>
            <a:ext cx="127000" cy="127000"/>
          </a:xfrm>
          <a:prstGeom prst="ellipse">
            <a:avLst/>
          </a:prstGeom>
          <a:solidFill>
            <a:srgbClr val="1F6F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E14D7A-45D6-1843-8105-711F48D01E08}"/>
              </a:ext>
            </a:extLst>
          </p:cNvPr>
          <p:cNvSpPr txBox="1"/>
          <p:nvPr/>
        </p:nvSpPr>
        <p:spPr>
          <a:xfrm>
            <a:off x="1066800" y="2717800"/>
            <a:ext cx="4572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Stack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8B8EC8-C88C-6344-8B0D-C797B8AAE27E}"/>
              </a:ext>
            </a:extLst>
          </p:cNvPr>
          <p:cNvSpPr txBox="1"/>
          <p:nvPr/>
        </p:nvSpPr>
        <p:spPr>
          <a:xfrm>
            <a:off x="1066800" y="3098800"/>
            <a:ext cx="4572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Language, frameworks, database, key libraries.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1F375BB-C9FC-E846-93C8-5D74C4E2E75E}"/>
              </a:ext>
            </a:extLst>
          </p:cNvPr>
          <p:cNvSpPr/>
          <p:nvPr/>
        </p:nvSpPr>
        <p:spPr>
          <a:xfrm>
            <a:off x="762000" y="3632200"/>
            <a:ext cx="127000" cy="127000"/>
          </a:xfrm>
          <a:prstGeom prst="ellipse">
            <a:avLst/>
          </a:prstGeom>
          <a:solidFill>
            <a:srgbClr val="1F6F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66A7AF-D9BD-1843-BB60-4BBA6FFBD5D3}"/>
              </a:ext>
            </a:extLst>
          </p:cNvPr>
          <p:cNvSpPr txBox="1"/>
          <p:nvPr/>
        </p:nvSpPr>
        <p:spPr>
          <a:xfrm>
            <a:off x="1066800" y="3530600"/>
            <a:ext cx="4572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Conventions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AD6F7F-6CC9-BA43-A1E8-43B8E42E9DD1}"/>
              </a:ext>
            </a:extLst>
          </p:cNvPr>
          <p:cNvSpPr txBox="1"/>
          <p:nvPr/>
        </p:nvSpPr>
        <p:spPr>
          <a:xfrm>
            <a:off x="1066800" y="3911600"/>
            <a:ext cx="4572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Naming, structure, patterns. Be specific.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85F57F6-24DA-2D49-B0BE-EAC4A8E8F357}"/>
              </a:ext>
            </a:extLst>
          </p:cNvPr>
          <p:cNvSpPr/>
          <p:nvPr/>
        </p:nvSpPr>
        <p:spPr>
          <a:xfrm>
            <a:off x="762000" y="4445000"/>
            <a:ext cx="127000" cy="127000"/>
          </a:xfrm>
          <a:prstGeom prst="ellipse">
            <a:avLst/>
          </a:prstGeom>
          <a:solidFill>
            <a:srgbClr val="1F6F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DF1ED3-7899-5048-AA67-9FBA146F6F46}"/>
              </a:ext>
            </a:extLst>
          </p:cNvPr>
          <p:cNvSpPr txBox="1"/>
          <p:nvPr/>
        </p:nvSpPr>
        <p:spPr>
          <a:xfrm>
            <a:off x="1066800" y="4343400"/>
            <a:ext cx="4572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What NOT to do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B51B9E-950E-D04D-8B78-FD4F61034791}"/>
              </a:ext>
            </a:extLst>
          </p:cNvPr>
          <p:cNvSpPr txBox="1"/>
          <p:nvPr/>
        </p:nvSpPr>
        <p:spPr>
          <a:xfrm>
            <a:off x="1066800" y="4724400"/>
            <a:ext cx="4572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Old paths, common traps, past mistakes.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528DC77-8815-574A-A0B9-C5A924E0064D}"/>
              </a:ext>
            </a:extLst>
          </p:cNvPr>
          <p:cNvSpPr/>
          <p:nvPr/>
        </p:nvSpPr>
        <p:spPr>
          <a:xfrm>
            <a:off x="762000" y="5257800"/>
            <a:ext cx="127000" cy="127000"/>
          </a:xfrm>
          <a:prstGeom prst="ellipse">
            <a:avLst/>
          </a:prstGeom>
          <a:solidFill>
            <a:srgbClr val="1F6F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C9ADB1-0A8E-204C-83DD-C33483F8CEF6}"/>
              </a:ext>
            </a:extLst>
          </p:cNvPr>
          <p:cNvSpPr txBox="1"/>
          <p:nvPr/>
        </p:nvSpPr>
        <p:spPr>
          <a:xfrm>
            <a:off x="1066800" y="5156200"/>
            <a:ext cx="4572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Links to scoped rules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5CCE0B4-5607-5D4E-8B3D-78C8737B66EC}"/>
              </a:ext>
            </a:extLst>
          </p:cNvPr>
          <p:cNvSpPr txBox="1"/>
          <p:nvPr/>
        </p:nvSpPr>
        <p:spPr>
          <a:xfrm>
            <a:off x="1066800" y="5537200"/>
            <a:ext cx="4572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Root file stays short. Detail goes deeper.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824C39-E234-104B-AE47-51E28ABFF194}"/>
              </a:ext>
            </a:extLst>
          </p:cNvPr>
          <p:cNvSpPr/>
          <p:nvPr/>
        </p:nvSpPr>
        <p:spPr>
          <a:xfrm>
            <a:off x="6350000" y="1905000"/>
            <a:ext cx="5080000" cy="38100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4C85DF-9365-DC4A-9170-DF6A8D08D0EE}"/>
              </a:ext>
            </a:extLst>
          </p:cNvPr>
          <p:cNvSpPr txBox="1"/>
          <p:nvPr/>
        </p:nvSpPr>
        <p:spPr>
          <a:xfrm>
            <a:off x="6654800" y="2209800"/>
            <a:ext cx="4572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1F6FEB"/>
                </a:solidFill>
              </a:rPr>
              <a:t>RULE OF THUMB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2AD8331-6165-EC4D-A2FF-8A2BFCCEDFBC}"/>
              </a:ext>
            </a:extLst>
          </p:cNvPr>
          <p:cNvSpPr txBox="1"/>
          <p:nvPr/>
        </p:nvSpPr>
        <p:spPr>
          <a:xfrm>
            <a:off x="6654800" y="2667000"/>
            <a:ext cx="4572000" cy="89255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FAFAFA"/>
                </a:solidFill>
              </a:rPr>
              <a:t>The root context file should fit on one screen.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FE50576-D6B4-4B4E-B605-7EFBA32BFFCA}"/>
              </a:ext>
            </a:extLst>
          </p:cNvPr>
          <p:cNvSpPr txBox="1"/>
          <p:nvPr/>
        </p:nvSpPr>
        <p:spPr>
          <a:xfrm>
            <a:off x="6654800" y="4572000"/>
            <a:ext cx="4572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E5E7EB"/>
                </a:solidFill>
              </a:rPr>
              <a:t>Scoped rule files hold the depth. Keep the entry point readable.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BC266AE-0FDF-5B40-BA34-B1B819D85A2A}"/>
              </a:ext>
            </a:extLst>
          </p:cNvPr>
          <p:cNvSpPr/>
          <p:nvPr/>
        </p:nvSpPr>
        <p:spPr>
          <a:xfrm>
            <a:off x="9652000" y="635000"/>
            <a:ext cx="1778000" cy="3556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FAFAFA"/>
                </a:solidFill>
              </a:rPr>
              <a:t>🎬 DEMO #2 NEXT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76EA2DA-1F2F-1E44-B088-A74F08C518EF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03</a:t>
            </a:r>
          </a:p>
        </p:txBody>
      </p:sp>
    </p:spTree>
    <p:extLst>
      <p:ext uri="{BB962C8B-B14F-4D97-AF65-F5344CB8AC3E}">
        <p14:creationId xmlns:p14="http://schemas.microsoft.com/office/powerpoint/2010/main" val="33856410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2AF5F2-3375-204A-87C5-FF33F3465C4F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F6FEB"/>
                </a:solidFill>
              </a:rPr>
              <a:t>USING MULTIPLE AI TOOLS?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BAF558-F0ED-0D4B-9678-611760F933AF}"/>
              </a:ext>
            </a:extLst>
          </p:cNvPr>
          <p:cNvSpPr txBox="1"/>
          <p:nvPr/>
        </p:nvSpPr>
        <p:spPr>
          <a:xfrm>
            <a:off x="762000" y="1016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0E1116"/>
                </a:solidFill>
              </a:rPr>
              <a:t>Don't duplicate your context file.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FD8BE80-3525-D743-AE59-12528279E870}"/>
              </a:ext>
            </a:extLst>
          </p:cNvPr>
          <p:cNvSpPr/>
          <p:nvPr/>
        </p:nvSpPr>
        <p:spPr>
          <a:xfrm>
            <a:off x="762000" y="2032000"/>
            <a:ext cx="5080000" cy="3429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091EAA-C0DD-C44F-93F3-0A7CABC69117}"/>
              </a:ext>
            </a:extLst>
          </p:cNvPr>
          <p:cNvSpPr txBox="1"/>
          <p:nvPr/>
        </p:nvSpPr>
        <p:spPr>
          <a:xfrm>
            <a:off x="1016000" y="2209800"/>
            <a:ext cx="2540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1F6FEB"/>
                </a:solidFill>
              </a:rPr>
              <a:t>OPTION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06F6AD-3B3C-B446-BE4A-78224D6B8ED8}"/>
              </a:ext>
            </a:extLst>
          </p:cNvPr>
          <p:cNvSpPr txBox="1"/>
          <p:nvPr/>
        </p:nvSpPr>
        <p:spPr>
          <a:xfrm>
            <a:off x="1016000" y="2514600"/>
            <a:ext cx="457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0E1116"/>
                </a:solidFill>
              </a:rPr>
              <a:t>Symlink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5E5765-4C57-B246-87F3-CAAA9BA46912}"/>
              </a:ext>
            </a:extLst>
          </p:cNvPr>
          <p:cNvSpPr txBox="1"/>
          <p:nvPr/>
        </p:nvSpPr>
        <p:spPr>
          <a:xfrm>
            <a:off x="1016000" y="2971800"/>
            <a:ext cx="4572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1F2937"/>
                </a:solidFill>
              </a:rPr>
              <a:t>Mac / Linux. Breaks easily on Windows or mixed teams.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002F3A2-BCD2-9E4D-94A4-7C0A260014E3}"/>
              </a:ext>
            </a:extLst>
          </p:cNvPr>
          <p:cNvSpPr/>
          <p:nvPr/>
        </p:nvSpPr>
        <p:spPr>
          <a:xfrm>
            <a:off x="1016000" y="3556000"/>
            <a:ext cx="4572000" cy="16510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2E7EBA-5B95-DC48-A8CF-4120193D18F0}"/>
              </a:ext>
            </a:extLst>
          </p:cNvPr>
          <p:cNvSpPr txBox="1"/>
          <p:nvPr/>
        </p:nvSpPr>
        <p:spPr>
          <a:xfrm>
            <a:off x="1143000" y="3683000"/>
            <a:ext cx="4318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dirty="0">
                <a:solidFill>
                  <a:schemeClr val="bg1"/>
                </a:solidFill>
              </a:rPr>
              <a:t># </a:t>
            </a:r>
            <a:r>
              <a:rPr lang="en-US" sz="1400" dirty="0" err="1">
                <a:solidFill>
                  <a:schemeClr val="bg1"/>
                </a:solidFill>
              </a:rPr>
              <a:t>AGENTS.md</a:t>
            </a:r>
            <a:r>
              <a:rPr lang="en-US" sz="1400" dirty="0">
                <a:solidFill>
                  <a:schemeClr val="bg1"/>
                </a:solidFill>
              </a:rPr>
              <a:t> is the source of truth</a:t>
            </a:r>
          </a:p>
          <a:p>
            <a:pPr algn="l"/>
            <a:r>
              <a:rPr lang="en-US" sz="1400" dirty="0">
                <a:solidFill>
                  <a:schemeClr val="bg1"/>
                </a:solidFill>
              </a:rPr>
              <a:t>ln -s </a:t>
            </a:r>
            <a:r>
              <a:rPr lang="en-US" sz="1400" dirty="0" err="1">
                <a:solidFill>
                  <a:schemeClr val="bg1"/>
                </a:solidFill>
              </a:rPr>
              <a:t>AGENTS.md</a:t>
            </a:r>
            <a:r>
              <a:rPr lang="en-US" sz="1400" dirty="0">
                <a:solidFill>
                  <a:schemeClr val="bg1"/>
                </a:solidFill>
              </a:rPr>
              <a:t> </a:t>
            </a:r>
            <a:r>
              <a:rPr lang="en-US" sz="1400" dirty="0" err="1">
                <a:solidFill>
                  <a:schemeClr val="bg1"/>
                </a:solidFill>
              </a:rPr>
              <a:t>CLAUDE.md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FB3E29A-7D4F-2849-9E09-832AD0A88FD7}"/>
              </a:ext>
            </a:extLst>
          </p:cNvPr>
          <p:cNvSpPr/>
          <p:nvPr/>
        </p:nvSpPr>
        <p:spPr>
          <a:xfrm>
            <a:off x="6350000" y="2032000"/>
            <a:ext cx="5080000" cy="3429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F68A4-DCF4-5B43-9ABD-E2664869DE21}"/>
              </a:ext>
            </a:extLst>
          </p:cNvPr>
          <p:cNvSpPr txBox="1"/>
          <p:nvPr/>
        </p:nvSpPr>
        <p:spPr>
          <a:xfrm>
            <a:off x="6604000" y="2209800"/>
            <a:ext cx="2540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1F6FEB"/>
                </a:solidFill>
              </a:rPr>
              <a:t>OPTION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EA0005-DAED-9B4B-8553-176808272568}"/>
              </a:ext>
            </a:extLst>
          </p:cNvPr>
          <p:cNvSpPr txBox="1"/>
          <p:nvPr/>
        </p:nvSpPr>
        <p:spPr>
          <a:xfrm>
            <a:off x="6604000" y="2514600"/>
            <a:ext cx="457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0E1116"/>
                </a:solidFill>
              </a:rPr>
              <a:t>Pointer file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7B3C6C-6F24-3A48-91C4-4F0E681FB7DC}"/>
              </a:ext>
            </a:extLst>
          </p:cNvPr>
          <p:cNvSpPr txBox="1"/>
          <p:nvPr/>
        </p:nvSpPr>
        <p:spPr>
          <a:xfrm>
            <a:off x="6604000" y="2971800"/>
            <a:ext cx="4572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1F2937"/>
                </a:solidFill>
              </a:rPr>
              <a:t>Cross-platform. Most portable.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CFFD1B-86B1-0C45-A2EC-3652F0D1AF27}"/>
              </a:ext>
            </a:extLst>
          </p:cNvPr>
          <p:cNvSpPr/>
          <p:nvPr/>
        </p:nvSpPr>
        <p:spPr>
          <a:xfrm>
            <a:off x="6604000" y="3556000"/>
            <a:ext cx="4572000" cy="16510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DBCF78-F9FE-574E-882B-F7463D1719F1}"/>
              </a:ext>
            </a:extLst>
          </p:cNvPr>
          <p:cNvSpPr txBox="1"/>
          <p:nvPr/>
        </p:nvSpPr>
        <p:spPr>
          <a:xfrm>
            <a:off x="6731000" y="3683000"/>
            <a:ext cx="4318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dirty="0">
                <a:solidFill>
                  <a:srgbClr val="FAFAFA"/>
                </a:solidFill>
                <a:latin typeface="Consolas"/>
                <a:cs typeface="Consolas"/>
              </a:rPr>
              <a:t># </a:t>
            </a:r>
            <a:r>
              <a:rPr lang="en-US" sz="1400" dirty="0" err="1">
                <a:solidFill>
                  <a:srgbClr val="FAFAFA"/>
                </a:solidFill>
                <a:latin typeface="Consolas"/>
                <a:cs typeface="Consolas"/>
              </a:rPr>
              <a:t>CLAUDE.md</a:t>
            </a:r>
            <a:r>
              <a:rPr lang="en-US" sz="1400" dirty="0">
                <a:solidFill>
                  <a:srgbClr val="FAFAFA"/>
                </a:solidFill>
                <a:latin typeface="Consolas"/>
                <a:cs typeface="Consolas"/>
              </a:rPr>
              <a:t>
@</a:t>
            </a:r>
            <a:r>
              <a:rPr lang="en-US" sz="1400" dirty="0" err="1">
                <a:solidFill>
                  <a:srgbClr val="FAFAFA"/>
                </a:solidFill>
                <a:latin typeface="Consolas"/>
                <a:cs typeface="Consolas"/>
              </a:rPr>
              <a:t>AGENTS.md</a:t>
            </a:r>
            <a:r>
              <a:rPr lang="en-US" sz="1400" dirty="0">
                <a:solidFill>
                  <a:srgbClr val="FAFAFA"/>
                </a:solidFill>
                <a:latin typeface="Consolas"/>
                <a:cs typeface="Consolas"/>
              </a:rPr>
              <a:t>
# or just plain text:
See </a:t>
            </a:r>
            <a:r>
              <a:rPr lang="en-US" sz="1400" dirty="0" err="1">
                <a:solidFill>
                  <a:srgbClr val="FAFAFA"/>
                </a:solidFill>
                <a:latin typeface="Consolas"/>
                <a:cs typeface="Consolas"/>
              </a:rPr>
              <a:t>AGENTS.md</a:t>
            </a:r>
            <a:r>
              <a:rPr lang="en-US" sz="1400" dirty="0">
                <a:solidFill>
                  <a:srgbClr val="FAFAFA"/>
                </a:solidFill>
                <a:latin typeface="Consolas"/>
                <a:cs typeface="Consolas"/>
              </a:rPr>
              <a:t> for project context.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64E7A2C-694C-4342-93A0-6FDA5D050554}"/>
              </a:ext>
            </a:extLst>
          </p:cNvPr>
          <p:cNvSpPr/>
          <p:nvPr/>
        </p:nvSpPr>
        <p:spPr>
          <a:xfrm>
            <a:off x="762000" y="5715000"/>
            <a:ext cx="10668000" cy="635000"/>
          </a:xfrm>
          <a:prstGeom prst="rect">
            <a:avLst/>
          </a:prstGeom>
          <a:solidFill>
            <a:srgbClr val="EEF4FE"/>
          </a:solidFill>
          <a:ln w="12700" cap="flat" cmpd="sng" algn="ctr">
            <a:solidFill>
              <a:srgbClr val="1F6F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3A1C43-24D8-D046-970E-407A34D74CB7}"/>
              </a:ext>
            </a:extLst>
          </p:cNvPr>
          <p:cNvSpPr txBox="1"/>
          <p:nvPr/>
        </p:nvSpPr>
        <p:spPr>
          <a:xfrm>
            <a:off x="888999" y="5782179"/>
            <a:ext cx="10456333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 dirty="0">
                <a:solidFill>
                  <a:srgbClr val="0E1116"/>
                </a:solidFill>
              </a:rPr>
              <a:t>Only Claude Code needs the </a:t>
            </a:r>
            <a:r>
              <a:rPr lang="en-US" sz="1400" b="1" dirty="0" err="1">
                <a:solidFill>
                  <a:srgbClr val="0E1116"/>
                </a:solidFill>
              </a:rPr>
              <a:t>symlink</a:t>
            </a:r>
            <a:r>
              <a:rPr lang="en-US" sz="1400" b="1" dirty="0">
                <a:solidFill>
                  <a:srgbClr val="0E1116"/>
                </a:solidFill>
              </a:rPr>
              <a:t>. Cursor, Copilot, Antigravity, Windsurf, and Aider read </a:t>
            </a:r>
            <a:r>
              <a:rPr lang="en-US" sz="1400" b="1" dirty="0" err="1">
                <a:solidFill>
                  <a:srgbClr val="0E1116"/>
                </a:solidFill>
              </a:rPr>
              <a:t>AGENTS.md</a:t>
            </a:r>
            <a:r>
              <a:rPr lang="en-US" sz="1400" b="1" dirty="0">
                <a:solidFill>
                  <a:srgbClr val="0E1116"/>
                </a:solidFill>
              </a:rPr>
              <a:t> natively. Don't copy-paste; one file will go stale.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58B9D6-7B03-3E4D-9855-5929E21A50B9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03</a:t>
            </a:r>
          </a:p>
        </p:txBody>
      </p:sp>
    </p:spTree>
    <p:extLst>
      <p:ext uri="{BB962C8B-B14F-4D97-AF65-F5344CB8AC3E}">
        <p14:creationId xmlns:p14="http://schemas.microsoft.com/office/powerpoint/2010/main" val="38450016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C8160C-6774-014E-AC10-ACEDE8626733}"/>
              </a:ext>
            </a:extLst>
          </p:cNvPr>
          <p:cNvSpPr txBox="1"/>
          <p:nvPr/>
        </p:nvSpPr>
        <p:spPr>
          <a:xfrm>
            <a:off x="762000" y="2032000"/>
            <a:ext cx="3048000" cy="2794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20000" b="1">
                <a:solidFill>
                  <a:srgbClr val="1F6FEB"/>
                </a:solidFill>
              </a:rPr>
              <a:t>04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9E4545-4AAB-6944-BA9C-8C367BFBEE4B}"/>
              </a:ext>
            </a:extLst>
          </p:cNvPr>
          <p:cNvSpPr txBox="1"/>
          <p:nvPr/>
        </p:nvSpPr>
        <p:spPr>
          <a:xfrm>
            <a:off x="4064000" y="2540000"/>
            <a:ext cx="736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1F6FEB"/>
                </a:solidFill>
              </a:rPr>
              <a:t>PART 04  ·  17 MIN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339F7E-9491-124B-BAEA-01604BC8D870}"/>
              </a:ext>
            </a:extLst>
          </p:cNvPr>
          <p:cNvSpPr txBox="1"/>
          <p:nvPr/>
        </p:nvSpPr>
        <p:spPr>
          <a:xfrm>
            <a:off x="4064000" y="2921000"/>
            <a:ext cx="736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800" b="1"/>
              <a:t>Spec → Generate → Review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2C689C-511D-A840-BB48-72564A559D40}"/>
              </a:ext>
            </a:extLst>
          </p:cNvPr>
          <p:cNvSpPr txBox="1"/>
          <p:nvPr/>
        </p:nvSpPr>
        <p:spPr>
          <a:xfrm>
            <a:off x="4064000" y="4064000"/>
            <a:ext cx="7366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>
                <a:solidFill>
                  <a:srgbClr val="1F2937"/>
                </a:solidFill>
              </a:rPr>
              <a:t>The core loop you'll run for every real task.</a:t>
            </a:r>
          </a:p>
        </p:txBody>
      </p:sp>
    </p:spTree>
    <p:extLst>
      <p:ext uri="{BB962C8B-B14F-4D97-AF65-F5344CB8AC3E}">
        <p14:creationId xmlns:p14="http://schemas.microsoft.com/office/powerpoint/2010/main" val="4521513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B414D9-CFF6-E74E-A33E-E71ECA98ADF5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F6FEB"/>
                </a:solidFill>
              </a:rPr>
              <a:t>THE SPEC → GENERATE → REVIEW LOOP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3D0BAF-4F2D-8E45-B251-35C04E81F1FC}"/>
              </a:ext>
            </a:extLst>
          </p:cNvPr>
          <p:cNvSpPr txBox="1"/>
          <p:nvPr/>
        </p:nvSpPr>
        <p:spPr>
          <a:xfrm>
            <a:off x="762000" y="1016000"/>
            <a:ext cx="10668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 dirty="0"/>
              <a:t>Three steps. One feedback path.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947AFC-5B07-DB4B-B83B-5067794B59D0}"/>
              </a:ext>
            </a:extLst>
          </p:cNvPr>
          <p:cNvSpPr/>
          <p:nvPr/>
        </p:nvSpPr>
        <p:spPr>
          <a:xfrm>
            <a:off x="825500" y="2159000"/>
            <a:ext cx="3175000" cy="2540000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0E111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8D31A3-279E-494F-84D1-E5F7DC9DA99F}"/>
              </a:ext>
            </a:extLst>
          </p:cNvPr>
          <p:cNvSpPr txBox="1"/>
          <p:nvPr/>
        </p:nvSpPr>
        <p:spPr>
          <a:xfrm>
            <a:off x="1079500" y="2413000"/>
            <a:ext cx="762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1F6FEB"/>
                </a:solidFill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00FB02-3889-D844-93AE-712F98DB07CC}"/>
              </a:ext>
            </a:extLst>
          </p:cNvPr>
          <p:cNvSpPr txBox="1"/>
          <p:nvPr/>
        </p:nvSpPr>
        <p:spPr>
          <a:xfrm>
            <a:off x="1079500" y="2921000"/>
            <a:ext cx="2667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0E1116"/>
                </a:solidFill>
              </a:rPr>
              <a:t>SPEC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F575B2-647F-3645-80D9-ACB3A86DE6EC}"/>
              </a:ext>
            </a:extLst>
          </p:cNvPr>
          <p:cNvSpPr txBox="1"/>
          <p:nvPr/>
        </p:nvSpPr>
        <p:spPr>
          <a:xfrm>
            <a:off x="1079500" y="3429000"/>
            <a:ext cx="2667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1F2937"/>
                </a:solidFill>
              </a:rPr>
              <a:t>(you write)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F928F1-D2A0-4349-93EC-547CF5E97332}"/>
              </a:ext>
            </a:extLst>
          </p:cNvPr>
          <p:cNvSpPr txBox="1"/>
          <p:nvPr/>
        </p:nvSpPr>
        <p:spPr>
          <a:xfrm>
            <a:off x="1079500" y="3860800"/>
            <a:ext cx="2667000" cy="55399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0E1116"/>
                </a:solidFill>
              </a:rPr>
              <a:t>What, why, constraints, success, out of scope.</a:t>
            </a:r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DAA725B3-0216-DC4D-A3D9-CF3D2E35E4A2}"/>
              </a:ext>
            </a:extLst>
          </p:cNvPr>
          <p:cNvSpPr/>
          <p:nvPr/>
        </p:nvSpPr>
        <p:spPr>
          <a:xfrm>
            <a:off x="4051300" y="3238500"/>
            <a:ext cx="406400" cy="381000"/>
          </a:xfrm>
          <a:prstGeom prst="rightArrow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4ACA37-53C2-064D-90A6-D91595DAFB77}"/>
              </a:ext>
            </a:extLst>
          </p:cNvPr>
          <p:cNvSpPr/>
          <p:nvPr/>
        </p:nvSpPr>
        <p:spPr>
          <a:xfrm>
            <a:off x="4508500" y="2159000"/>
            <a:ext cx="3175000" cy="2540000"/>
          </a:xfrm>
          <a:prstGeom prst="rect">
            <a:avLst/>
          </a:prstGeom>
          <a:solidFill>
            <a:srgbClr val="1F6F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68E4C6-3943-DF44-9213-E9037B0D5A20}"/>
              </a:ext>
            </a:extLst>
          </p:cNvPr>
          <p:cNvSpPr txBox="1"/>
          <p:nvPr/>
        </p:nvSpPr>
        <p:spPr>
          <a:xfrm>
            <a:off x="4762500" y="2413000"/>
            <a:ext cx="762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FAFAFA"/>
                </a:solidFill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0E0916-0271-3746-A136-1321FE3A8B99}"/>
              </a:ext>
            </a:extLst>
          </p:cNvPr>
          <p:cNvSpPr txBox="1"/>
          <p:nvPr/>
        </p:nvSpPr>
        <p:spPr>
          <a:xfrm>
            <a:off x="4762500" y="2921000"/>
            <a:ext cx="2667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FAFAFA"/>
                </a:solidFill>
              </a:rPr>
              <a:t>GENERATE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A14D60-0D07-0E4E-9178-4C8D6775009F}"/>
              </a:ext>
            </a:extLst>
          </p:cNvPr>
          <p:cNvSpPr txBox="1"/>
          <p:nvPr/>
        </p:nvSpPr>
        <p:spPr>
          <a:xfrm>
            <a:off x="4762500" y="3429000"/>
            <a:ext cx="2667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D9E5FB"/>
                </a:solidFill>
              </a:rPr>
              <a:t>(AI writes)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A5D69F-A73A-134E-B97C-ACF6752126BB}"/>
              </a:ext>
            </a:extLst>
          </p:cNvPr>
          <p:cNvSpPr txBox="1"/>
          <p:nvPr/>
        </p:nvSpPr>
        <p:spPr>
          <a:xfrm>
            <a:off x="4762500" y="3860800"/>
            <a:ext cx="2667000" cy="55399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FAFAFA"/>
                </a:solidFill>
              </a:rPr>
              <a:t>Hand the spec to the model. Watch it work.</a:t>
            </a: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581E4A03-FBB5-4645-9826-4197E9829896}"/>
              </a:ext>
            </a:extLst>
          </p:cNvPr>
          <p:cNvSpPr/>
          <p:nvPr/>
        </p:nvSpPr>
        <p:spPr>
          <a:xfrm>
            <a:off x="7734300" y="3238500"/>
            <a:ext cx="406400" cy="381000"/>
          </a:xfrm>
          <a:prstGeom prst="rightArrow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BE88898-A28E-BE4A-B7CF-957DA5DFEACE}"/>
              </a:ext>
            </a:extLst>
          </p:cNvPr>
          <p:cNvSpPr/>
          <p:nvPr/>
        </p:nvSpPr>
        <p:spPr>
          <a:xfrm>
            <a:off x="8191500" y="2159000"/>
            <a:ext cx="3175000" cy="2540000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0E111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BF8B46-C4B1-E542-A508-90B9CB44E14C}"/>
              </a:ext>
            </a:extLst>
          </p:cNvPr>
          <p:cNvSpPr txBox="1"/>
          <p:nvPr/>
        </p:nvSpPr>
        <p:spPr>
          <a:xfrm>
            <a:off x="8445500" y="2413000"/>
            <a:ext cx="762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1F6FEB"/>
                </a:solidFill>
              </a:rP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C9E103-E3E6-6C4B-AA43-CCFE78CEBF58}"/>
              </a:ext>
            </a:extLst>
          </p:cNvPr>
          <p:cNvSpPr txBox="1"/>
          <p:nvPr/>
        </p:nvSpPr>
        <p:spPr>
          <a:xfrm>
            <a:off x="8445500" y="2921000"/>
            <a:ext cx="2667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0E1116"/>
                </a:solidFill>
              </a:rPr>
              <a:t>REVIEW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89AC51-5FF3-9E45-875B-5B178FC9C05C}"/>
              </a:ext>
            </a:extLst>
          </p:cNvPr>
          <p:cNvSpPr txBox="1"/>
          <p:nvPr/>
        </p:nvSpPr>
        <p:spPr>
          <a:xfrm>
            <a:off x="8445500" y="3429000"/>
            <a:ext cx="2667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1F2937"/>
                </a:solidFill>
              </a:rPr>
              <a:t>(you read)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66021E6-C4D5-8544-96F9-4E4FC9D8EFBA}"/>
              </a:ext>
            </a:extLst>
          </p:cNvPr>
          <p:cNvSpPr txBox="1"/>
          <p:nvPr/>
        </p:nvSpPr>
        <p:spPr>
          <a:xfrm>
            <a:off x="8445500" y="3860800"/>
            <a:ext cx="2667000" cy="55399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0E1116"/>
                </a:solidFill>
              </a:rPr>
              <a:t>30-second diff catches 90% of the problems.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424BBD-A3DF-F542-A303-0F4E5A5315FF}"/>
              </a:ext>
            </a:extLst>
          </p:cNvPr>
          <p:cNvSpPr txBox="1"/>
          <p:nvPr/>
        </p:nvSpPr>
        <p:spPr>
          <a:xfrm>
            <a:off x="762000" y="5207000"/>
            <a:ext cx="10668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1F6FEB"/>
                </a:solidFill>
              </a:rPr>
              <a:t>↺  When the output is wrong, fix the SPEC and regenerate. Don't patch the code.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F6B2988-618B-AD4F-B063-782DAD3F817B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04</a:t>
            </a:r>
          </a:p>
        </p:txBody>
      </p:sp>
    </p:spTree>
    <p:extLst>
      <p:ext uri="{BB962C8B-B14F-4D97-AF65-F5344CB8AC3E}">
        <p14:creationId xmlns:p14="http://schemas.microsoft.com/office/powerpoint/2010/main" val="41779694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5801E4-A832-2043-9D43-5E77FC29B3DF}"/>
              </a:ext>
            </a:extLst>
          </p:cNvPr>
          <p:cNvSpPr txBox="1"/>
          <p:nvPr/>
        </p:nvSpPr>
        <p:spPr>
          <a:xfrm>
            <a:off x="762000" y="508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F6FEB"/>
                </a:solidFill>
              </a:rPr>
              <a:t>ANATOMY OF A SPEC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50765F-231E-2049-B0FD-96B92EEE1EF8}"/>
              </a:ext>
            </a:extLst>
          </p:cNvPr>
          <p:cNvSpPr txBox="1"/>
          <p:nvPr/>
        </p:nvSpPr>
        <p:spPr>
          <a:xfrm>
            <a:off x="762000" y="863600"/>
            <a:ext cx="10668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/>
              <a:t>Five sections. Always.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1141D12-19A9-6B4A-8458-D99C6AAFBA05}"/>
              </a:ext>
            </a:extLst>
          </p:cNvPr>
          <p:cNvSpPr/>
          <p:nvPr/>
        </p:nvSpPr>
        <p:spPr>
          <a:xfrm>
            <a:off x="762000" y="1651000"/>
            <a:ext cx="5842000" cy="44450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AE7738-07B9-774E-B20B-8653EF9578D9}"/>
              </a:ext>
            </a:extLst>
          </p:cNvPr>
          <p:cNvSpPr txBox="1"/>
          <p:nvPr/>
        </p:nvSpPr>
        <p:spPr>
          <a:xfrm>
            <a:off x="1016000" y="1905000"/>
            <a:ext cx="5334000" cy="406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FAFAFA"/>
                </a:solidFill>
                <a:latin typeface="Consolas"/>
                <a:cs typeface="Consolas"/>
              </a:rPr>
              <a:t>## What
One sentence: what are we building?
## Why
One sentence: why does it need to exist?
## Constraints
- Don't do X
- Must preserve Y
- Follow the pattern in &lt;file&gt;
## Success criteria
- How do we know it worked?
## Out of scope
- What explicitly NOT to do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7B23979-1CA4-3147-AC5A-985F91C4A3E7}"/>
              </a:ext>
            </a:extLst>
          </p:cNvPr>
          <p:cNvSpPr/>
          <p:nvPr/>
        </p:nvSpPr>
        <p:spPr>
          <a:xfrm>
            <a:off x="6921500" y="1905000"/>
            <a:ext cx="152400" cy="152400"/>
          </a:xfrm>
          <a:prstGeom prst="ellipse">
            <a:avLst/>
          </a:prstGeom>
          <a:solidFill>
            <a:srgbClr val="1F6F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010137-6659-B64E-9C47-D9516ACF38E6}"/>
              </a:ext>
            </a:extLst>
          </p:cNvPr>
          <p:cNvSpPr txBox="1"/>
          <p:nvPr/>
        </p:nvSpPr>
        <p:spPr>
          <a:xfrm>
            <a:off x="7239000" y="1778000"/>
            <a:ext cx="4318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"Out of scope" is the stop sign.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4B5BD9-46CD-5A47-B164-978B03BDF426}"/>
              </a:ext>
            </a:extLst>
          </p:cNvPr>
          <p:cNvSpPr txBox="1"/>
          <p:nvPr/>
        </p:nvSpPr>
        <p:spPr>
          <a:xfrm>
            <a:off x="7239000" y="2187222"/>
            <a:ext cx="431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F2937"/>
                </a:solidFill>
              </a:rPr>
              <a:t>It tells the AI what NOT to touch.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E02D557-BED8-DD49-9CC4-197A53C7DDF2}"/>
              </a:ext>
            </a:extLst>
          </p:cNvPr>
          <p:cNvSpPr/>
          <p:nvPr/>
        </p:nvSpPr>
        <p:spPr>
          <a:xfrm>
            <a:off x="6921500" y="3302000"/>
            <a:ext cx="152400" cy="152400"/>
          </a:xfrm>
          <a:prstGeom prst="ellipse">
            <a:avLst/>
          </a:prstGeom>
          <a:solidFill>
            <a:srgbClr val="1F6F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F712DE-29CB-2345-B84A-639048364964}"/>
              </a:ext>
            </a:extLst>
          </p:cNvPr>
          <p:cNvSpPr txBox="1"/>
          <p:nvPr/>
        </p:nvSpPr>
        <p:spPr>
          <a:xfrm>
            <a:off x="7239000" y="3175000"/>
            <a:ext cx="4318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"Out of scope" is the brake.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9CFBDC-36A1-8144-A2A0-BB954E025AF1}"/>
              </a:ext>
            </a:extLst>
          </p:cNvPr>
          <p:cNvSpPr txBox="1"/>
          <p:nvPr/>
        </p:nvSpPr>
        <p:spPr>
          <a:xfrm>
            <a:off x="7239000" y="3561644"/>
            <a:ext cx="431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F2937"/>
                </a:solidFill>
              </a:rPr>
              <a:t>It stops the AI from rewriting half your project.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4F34AD1-BFCA-5145-91B8-14D795946F55}"/>
              </a:ext>
            </a:extLst>
          </p:cNvPr>
          <p:cNvSpPr/>
          <p:nvPr/>
        </p:nvSpPr>
        <p:spPr>
          <a:xfrm>
            <a:off x="6921500" y="4699000"/>
            <a:ext cx="152400" cy="152400"/>
          </a:xfrm>
          <a:prstGeom prst="ellipse">
            <a:avLst/>
          </a:prstGeom>
          <a:solidFill>
            <a:srgbClr val="1F6F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D1C593-B1D2-6E4C-922D-492C13FBC4CF}"/>
              </a:ext>
            </a:extLst>
          </p:cNvPr>
          <p:cNvSpPr txBox="1"/>
          <p:nvPr/>
        </p:nvSpPr>
        <p:spPr>
          <a:xfrm>
            <a:off x="7239000" y="4572000"/>
            <a:ext cx="4318000" cy="67710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Success criteria becomes your review checklist.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421E87-56FA-3645-81E3-F62D41D7D021}"/>
              </a:ext>
            </a:extLst>
          </p:cNvPr>
          <p:cNvSpPr txBox="1"/>
          <p:nvPr/>
        </p:nvSpPr>
        <p:spPr>
          <a:xfrm>
            <a:off x="7239000" y="5252158"/>
            <a:ext cx="431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F2937"/>
                </a:solidFill>
              </a:rPr>
              <a:t>You already know what to check.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BBA7CD8-78E6-484D-ADF7-5FB796A1630A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04</a:t>
            </a:r>
          </a:p>
        </p:txBody>
      </p:sp>
    </p:spTree>
    <p:extLst>
      <p:ext uri="{BB962C8B-B14F-4D97-AF65-F5344CB8AC3E}">
        <p14:creationId xmlns:p14="http://schemas.microsoft.com/office/powerpoint/2010/main" val="22137141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F0E087-581E-A64F-BE9D-2C25D3316D6C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F6FEB"/>
                </a:solidFill>
              </a:rPr>
              <a:t>WHY REVIEW IS NON-NEGOTIABLE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C79D1B-E457-C74C-8B60-120E02FBF11F}"/>
              </a:ext>
            </a:extLst>
          </p:cNvPr>
          <p:cNvSpPr txBox="1"/>
          <p:nvPr/>
        </p:nvSpPr>
        <p:spPr>
          <a:xfrm>
            <a:off x="762000" y="1270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 dirty="0"/>
              <a:t>AI writes wrong code that looks correct - confidently.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2C1812-8B8E-9146-8D42-9EA19524A38A}"/>
              </a:ext>
            </a:extLst>
          </p:cNvPr>
          <p:cNvSpPr/>
          <p:nvPr/>
        </p:nvSpPr>
        <p:spPr>
          <a:xfrm>
            <a:off x="762000" y="2675467"/>
            <a:ext cx="3302000" cy="2222500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1F6F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195258-CF11-A847-A45D-6F87350C0D86}"/>
              </a:ext>
            </a:extLst>
          </p:cNvPr>
          <p:cNvSpPr txBox="1"/>
          <p:nvPr/>
        </p:nvSpPr>
        <p:spPr>
          <a:xfrm>
            <a:off x="990600" y="2904067"/>
            <a:ext cx="2921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Hallucinated functions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09ABA6-7026-7442-8867-8219E15C9B1E}"/>
              </a:ext>
            </a:extLst>
          </p:cNvPr>
          <p:cNvSpPr txBox="1"/>
          <p:nvPr/>
        </p:nvSpPr>
        <p:spPr>
          <a:xfrm>
            <a:off x="990600" y="3691467"/>
            <a:ext cx="2921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Calls methods that don't exist on real objects.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CB7CDA-7EA4-ED42-8307-6F25F73FF6AD}"/>
              </a:ext>
            </a:extLst>
          </p:cNvPr>
          <p:cNvSpPr/>
          <p:nvPr/>
        </p:nvSpPr>
        <p:spPr>
          <a:xfrm>
            <a:off x="4318000" y="2675467"/>
            <a:ext cx="3302000" cy="2222500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1F6F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2238D5-50B6-7643-98A0-A998C240EC7A}"/>
              </a:ext>
            </a:extLst>
          </p:cNvPr>
          <p:cNvSpPr txBox="1"/>
          <p:nvPr/>
        </p:nvSpPr>
        <p:spPr>
          <a:xfrm>
            <a:off x="4546600" y="2904067"/>
            <a:ext cx="2921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Wrong conventions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E48B3F-3D86-BE4D-B8F2-46A5F6D79C61}"/>
              </a:ext>
            </a:extLst>
          </p:cNvPr>
          <p:cNvSpPr txBox="1"/>
          <p:nvPr/>
        </p:nvSpPr>
        <p:spPr>
          <a:xfrm>
            <a:off x="4546600" y="3691467"/>
            <a:ext cx="2921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Follows the conventions it thinks you want, not yours.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342C0A-397C-1446-84C0-DF0A18D2691B}"/>
              </a:ext>
            </a:extLst>
          </p:cNvPr>
          <p:cNvSpPr/>
          <p:nvPr/>
        </p:nvSpPr>
        <p:spPr>
          <a:xfrm>
            <a:off x="7874000" y="2675467"/>
            <a:ext cx="3302000" cy="2222500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1F6F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D7D568-7DEE-ED47-BE94-891D7A7EF38A}"/>
              </a:ext>
            </a:extLst>
          </p:cNvPr>
          <p:cNvSpPr txBox="1"/>
          <p:nvPr/>
        </p:nvSpPr>
        <p:spPr>
          <a:xfrm>
            <a:off x="8102600" y="2904067"/>
            <a:ext cx="2921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Hidden edge case bugs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DE818C-2D09-3244-A8FC-6011F8FA9ADB}"/>
              </a:ext>
            </a:extLst>
          </p:cNvPr>
          <p:cNvSpPr txBox="1"/>
          <p:nvPr/>
        </p:nvSpPr>
        <p:spPr>
          <a:xfrm>
            <a:off x="8102600" y="3691467"/>
            <a:ext cx="2921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Normal case works. Empty input, null, or race conditions break.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A1EAB2-2CF8-F64E-8D5B-AD823999606F}"/>
              </a:ext>
            </a:extLst>
          </p:cNvPr>
          <p:cNvSpPr txBox="1"/>
          <p:nvPr/>
        </p:nvSpPr>
        <p:spPr>
          <a:xfrm>
            <a:off x="762000" y="5520265"/>
            <a:ext cx="1066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 dirty="0">
                <a:solidFill>
                  <a:srgbClr val="1F6FEB"/>
                </a:solidFill>
              </a:rPr>
              <a:t>A 30-second diff review catches 90% of the problems.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99B23A-A37B-8342-94E6-CF59742894E9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04</a:t>
            </a:r>
          </a:p>
        </p:txBody>
      </p:sp>
    </p:spTree>
    <p:extLst>
      <p:ext uri="{BB962C8B-B14F-4D97-AF65-F5344CB8AC3E}">
        <p14:creationId xmlns:p14="http://schemas.microsoft.com/office/powerpoint/2010/main" val="14590721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8600703-9B16-7547-B331-B7D9AAF5CB9E}"/>
              </a:ext>
            </a:extLst>
          </p:cNvPr>
          <p:cNvSpPr/>
          <p:nvPr/>
        </p:nvSpPr>
        <p:spPr>
          <a:xfrm>
            <a:off x="0" y="0"/>
            <a:ext cx="12192000" cy="65532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8F9ED3-0F65-7F4C-B36E-CE1CF77D88D8}"/>
              </a:ext>
            </a:extLst>
          </p:cNvPr>
          <p:cNvSpPr txBox="1"/>
          <p:nvPr/>
        </p:nvSpPr>
        <p:spPr>
          <a:xfrm>
            <a:off x="762000" y="762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F6FEB"/>
                </a:solidFill>
              </a:rPr>
              <a:t>THE PRODUCTION VERSION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A1950C-8449-7645-A240-603E4BC3B58E}"/>
              </a:ext>
            </a:extLst>
          </p:cNvPr>
          <p:cNvSpPr txBox="1"/>
          <p:nvPr/>
        </p:nvSpPr>
        <p:spPr>
          <a:xfrm>
            <a:off x="762000" y="1206500"/>
            <a:ext cx="10668000" cy="107721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6400" b="1">
                <a:solidFill>
                  <a:srgbClr val="FAFAFA"/>
                </a:solidFill>
              </a:rPr>
              <a:t>Superpowers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4A4D3-CBD4-2E47-860F-6D55ECE8FF82}"/>
              </a:ext>
            </a:extLst>
          </p:cNvPr>
          <p:cNvSpPr txBox="1"/>
          <p:nvPr/>
        </p:nvSpPr>
        <p:spPr>
          <a:xfrm>
            <a:off x="762000" y="2413000"/>
            <a:ext cx="10668000" cy="70788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>
                <a:solidFill>
                  <a:srgbClr val="E5E7EB"/>
                </a:solidFill>
              </a:rPr>
              <a:t>A free agentic skills framework that builds the brainstorm → plan → execute → review loop directly into your coding agent.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666FD2-3383-BC4D-9BFC-F564F02FE44B}"/>
              </a:ext>
            </a:extLst>
          </p:cNvPr>
          <p:cNvSpPr txBox="1"/>
          <p:nvPr/>
        </p:nvSpPr>
        <p:spPr>
          <a:xfrm>
            <a:off x="762000" y="3683000"/>
            <a:ext cx="254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400" b="1">
                <a:solidFill>
                  <a:srgbClr val="1F6FEB"/>
                </a:solidFill>
              </a:rPr>
              <a:t>~175k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16C661-B554-084F-BFDB-8CC806AE39B5}"/>
              </a:ext>
            </a:extLst>
          </p:cNvPr>
          <p:cNvSpPr txBox="1"/>
          <p:nvPr/>
        </p:nvSpPr>
        <p:spPr>
          <a:xfrm>
            <a:off x="762000" y="4495800"/>
            <a:ext cx="2540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E5E7EB"/>
                </a:solidFill>
              </a:rPr>
              <a:t>GitHub stars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167DA2-F6FE-1F45-99F8-0EBA1580F03C}"/>
              </a:ext>
            </a:extLst>
          </p:cNvPr>
          <p:cNvSpPr txBox="1"/>
          <p:nvPr/>
        </p:nvSpPr>
        <p:spPr>
          <a:xfrm>
            <a:off x="3492500" y="3683000"/>
            <a:ext cx="254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400" b="1">
                <a:solidFill>
                  <a:srgbClr val="1F6FEB"/>
                </a:solidFill>
              </a:rPr>
              <a:t>14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4C93A8-4094-0B41-A448-C3A6A0B0D3F7}"/>
              </a:ext>
            </a:extLst>
          </p:cNvPr>
          <p:cNvSpPr txBox="1"/>
          <p:nvPr/>
        </p:nvSpPr>
        <p:spPr>
          <a:xfrm>
            <a:off x="3492500" y="4495800"/>
            <a:ext cx="2540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E5E7EB"/>
                </a:solidFill>
              </a:rPr>
              <a:t>skills shipped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A308FB-2F25-2742-B405-A38AF5DC7BAB}"/>
              </a:ext>
            </a:extLst>
          </p:cNvPr>
          <p:cNvSpPr txBox="1"/>
          <p:nvPr/>
        </p:nvSpPr>
        <p:spPr>
          <a:xfrm>
            <a:off x="6223000" y="3683000"/>
            <a:ext cx="254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400" b="1">
                <a:solidFill>
                  <a:srgbClr val="1F6FEB"/>
                </a:solidFill>
              </a:rPr>
              <a:t>Jan '26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74A60E-AD7D-E04C-9185-7111421DFA68}"/>
              </a:ext>
            </a:extLst>
          </p:cNvPr>
          <p:cNvSpPr txBox="1"/>
          <p:nvPr/>
        </p:nvSpPr>
        <p:spPr>
          <a:xfrm>
            <a:off x="6223000" y="4495800"/>
            <a:ext cx="2540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E5E7EB"/>
                </a:solidFill>
              </a:rPr>
              <a:t>in Claude Code marketplace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DE3FBF-BD47-3341-AFE1-735A608C22AD}"/>
              </a:ext>
            </a:extLst>
          </p:cNvPr>
          <p:cNvSpPr txBox="1"/>
          <p:nvPr/>
        </p:nvSpPr>
        <p:spPr>
          <a:xfrm>
            <a:off x="8953500" y="3683000"/>
            <a:ext cx="254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400" b="1">
                <a:solidFill>
                  <a:srgbClr val="1F6FEB"/>
                </a:solidFill>
              </a:rPr>
              <a:t>8+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2E472C-8EF4-4D44-ADBB-169B5964240A}"/>
              </a:ext>
            </a:extLst>
          </p:cNvPr>
          <p:cNvSpPr txBox="1"/>
          <p:nvPr/>
        </p:nvSpPr>
        <p:spPr>
          <a:xfrm>
            <a:off x="8953500" y="4495800"/>
            <a:ext cx="2540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E5E7EB"/>
                </a:solidFill>
              </a:rPr>
              <a:t>hosts supported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AAED7D-7AB4-F944-8454-4FBB0992EACB}"/>
              </a:ext>
            </a:extLst>
          </p:cNvPr>
          <p:cNvSpPr txBox="1"/>
          <p:nvPr/>
        </p:nvSpPr>
        <p:spPr>
          <a:xfrm>
            <a:off x="762000" y="5334000"/>
            <a:ext cx="1066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 err="1">
                <a:solidFill>
                  <a:srgbClr val="9CA3AF"/>
                </a:solidFill>
              </a:rPr>
              <a:t>github.com</a:t>
            </a:r>
            <a:r>
              <a:rPr lang="en-US" sz="1600" dirty="0">
                <a:solidFill>
                  <a:srgbClr val="9CA3AF"/>
                </a:solidFill>
              </a:rPr>
              <a:t>/</a:t>
            </a:r>
            <a:r>
              <a:rPr lang="en-US" sz="1600" dirty="0" err="1">
                <a:solidFill>
                  <a:srgbClr val="9CA3AF"/>
                </a:solidFill>
              </a:rPr>
              <a:t>obra</a:t>
            </a:r>
            <a:r>
              <a:rPr lang="en-US" sz="1600" dirty="0">
                <a:solidFill>
                  <a:srgbClr val="9CA3AF"/>
                </a:solidFill>
              </a:rPr>
              <a:t>/superpowers   ·   Free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432D68-7273-8541-AECF-CBF2ADD2030F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04</a:t>
            </a:r>
          </a:p>
        </p:txBody>
      </p:sp>
    </p:spTree>
    <p:extLst>
      <p:ext uri="{BB962C8B-B14F-4D97-AF65-F5344CB8AC3E}">
        <p14:creationId xmlns:p14="http://schemas.microsoft.com/office/powerpoint/2010/main" val="39583955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AA4109-2C80-0B48-B109-1B36EABDF0A7}"/>
              </a:ext>
            </a:extLst>
          </p:cNvPr>
          <p:cNvSpPr txBox="1"/>
          <p:nvPr/>
        </p:nvSpPr>
        <p:spPr>
          <a:xfrm>
            <a:off x="762000" y="3302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F6FEB"/>
                </a:solidFill>
              </a:rPr>
              <a:t>HOW SUPERPOWERS WORKS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1EB48F-AA0D-804E-9C8D-6F890825BF6C}"/>
              </a:ext>
            </a:extLst>
          </p:cNvPr>
          <p:cNvSpPr txBox="1"/>
          <p:nvPr/>
        </p:nvSpPr>
        <p:spPr>
          <a:xfrm>
            <a:off x="762000" y="635000"/>
            <a:ext cx="10668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/>
              <a:t>Skills that activate automatically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2D65F1D-6BDA-3247-BDA3-6E33B4E42205}"/>
              </a:ext>
            </a:extLst>
          </p:cNvPr>
          <p:cNvGraphicFramePr>
            <a:graphicFrameLocks noGrp="1"/>
          </p:cNvGraphicFramePr>
          <p:nvPr/>
        </p:nvGraphicFramePr>
        <p:xfrm>
          <a:off x="762000" y="1320800"/>
          <a:ext cx="10668000" cy="482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620692227"/>
                    </a:ext>
                  </a:extLst>
                </a:gridCol>
                <a:gridCol w="3556000">
                  <a:extLst>
                    <a:ext uri="{9D8B030D-6E8A-4147-A177-3AD203B41FA5}">
                      <a16:colId xmlns:a16="http://schemas.microsoft.com/office/drawing/2014/main" val="3036087642"/>
                    </a:ext>
                  </a:extLst>
                </a:gridCol>
                <a:gridCol w="5842000">
                  <a:extLst>
                    <a:ext uri="{9D8B030D-6E8A-4147-A177-3AD203B41FA5}">
                      <a16:colId xmlns:a16="http://schemas.microsoft.com/office/drawing/2014/main" val="1042856138"/>
                    </a:ext>
                  </a:extLst>
                </a:gridCol>
              </a:tblGrid>
              <a:tr h="4826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AFAFA"/>
                          </a:solidFill>
                        </a:rPr>
                        <a:t>Phase</a:t>
                      </a:r>
                    </a:p>
                  </a:txBody>
                  <a:tcPr anchor="ctr"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AFAFA"/>
                          </a:solidFill>
                        </a:rPr>
                        <a:t>Skill</a:t>
                      </a:r>
                    </a:p>
                  </a:txBody>
                  <a:tcPr anchor="ctr"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AFAFA"/>
                          </a:solidFill>
                        </a:rPr>
                        <a:t>What it forces</a:t>
                      </a:r>
                    </a:p>
                  </a:txBody>
                  <a:tcPr anchor="ctr">
                    <a:solidFill>
                      <a:srgbClr val="0E11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7154809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0E1116"/>
                          </a:solidFill>
                        </a:rPr>
                        <a:t>Design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rgbClr val="1F6FEB"/>
                          </a:solidFill>
                          <a:latin typeface="Consolas"/>
                          <a:cs typeface="Consolas"/>
                        </a:rPr>
                        <a:t>brainstorming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E1116"/>
                          </a:solidFill>
                        </a:rPr>
                        <a:t>Asks clarifying questions before any code is written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4642121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0E1116"/>
                          </a:solidFill>
                        </a:rPr>
                        <a:t>Design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1F6FEB"/>
                          </a:solidFill>
                          <a:latin typeface="Consolas"/>
                          <a:cs typeface="Consolas"/>
                        </a:rPr>
                        <a:t>writing-plans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E1116"/>
                          </a:solidFill>
                        </a:rPr>
                        <a:t>Breaks the spec into 2–5 min tasks with file paths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2644718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0E1116"/>
                          </a:solidFill>
                        </a:rPr>
                        <a:t>Setup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1F6FEB"/>
                          </a:solidFill>
                          <a:latin typeface="Consolas"/>
                          <a:cs typeface="Consolas"/>
                        </a:rPr>
                        <a:t>using-git-worktrees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E1116"/>
                          </a:solidFill>
                        </a:rPr>
                        <a:t>Isolated worktree per task , parallel without clobbering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9586408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0E1116"/>
                          </a:solidFill>
                        </a:rPr>
                        <a:t>Execute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1F6FEB"/>
                          </a:solidFill>
                          <a:latin typeface="Consolas"/>
                          <a:cs typeface="Consolas"/>
                        </a:rPr>
                        <a:t>subagent-driven-development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E1116"/>
                          </a:solidFill>
                        </a:rPr>
                        <a:t>Each task to a subagent with two-stage review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067491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0E1116"/>
                          </a:solidFill>
                        </a:rPr>
                        <a:t>Execute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1F6FEB"/>
                          </a:solidFill>
                          <a:latin typeface="Consolas"/>
                          <a:cs typeface="Consolas"/>
                        </a:rPr>
                        <a:t>TDD enforcement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E1116"/>
                          </a:solidFill>
                        </a:rPr>
                        <a:t>RED-GREEN-REFACTOR. Deletes code written before tests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6714938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0E1116"/>
                          </a:solidFill>
                        </a:rPr>
                        <a:t>Review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1F6FEB"/>
                          </a:solidFill>
                          <a:latin typeface="Consolas"/>
                          <a:cs typeface="Consolas"/>
                        </a:rPr>
                        <a:t>requesting-code-review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E1116"/>
                          </a:solidFill>
                        </a:rPr>
                        <a:t>Runs between tasks. Blocks on critical issues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6880096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r>
                        <a:rPr lang="en-US" sz="1200" b="1"/>
                        <a:t>Debug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systematic-debugging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Root cause → pattern → hypothesis → implementation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3210254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0E1116"/>
                          </a:solidFill>
                        </a:rPr>
                        <a:t>Finish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1F6FEB"/>
                          </a:solidFill>
                          <a:latin typeface="Consolas"/>
                          <a:cs typeface="Consolas"/>
                        </a:rPr>
                        <a:t>verification-before-completion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E1116"/>
                          </a:solidFill>
                        </a:rPr>
                        <a:t>Runs commands. Captures output as proof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2954880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r>
                        <a:rPr lang="en-US" sz="1200" b="1"/>
                        <a:t>Finish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finishing-a-development-branch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Merge, PR, keep, or discard , cleans up </a:t>
                      </a:r>
                      <a:r>
                        <a:rPr lang="en-US" sz="1200" dirty="0" err="1"/>
                        <a:t>worktree</a:t>
                      </a:r>
                      <a:endParaRPr 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402426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35ACFBF-A2D8-2E4F-B0D6-5436768B3E53}"/>
              </a:ext>
            </a:extLst>
          </p:cNvPr>
          <p:cNvSpPr txBox="1"/>
          <p:nvPr/>
        </p:nvSpPr>
        <p:spPr>
          <a:xfrm>
            <a:off x="762000" y="6205534"/>
            <a:ext cx="1066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 dirty="0">
                <a:solidFill>
                  <a:srgbClr val="1F2937"/>
                </a:solidFill>
              </a:rPr>
              <a:t>Say "Let's build X" → brainstorming starts before Claude writes any code. Your </a:t>
            </a:r>
            <a:r>
              <a:rPr lang="en-US" sz="1600" i="1" dirty="0" err="1">
                <a:solidFill>
                  <a:srgbClr val="1F2937"/>
                </a:solidFill>
              </a:rPr>
              <a:t>CLAUDE.md</a:t>
            </a:r>
            <a:r>
              <a:rPr lang="en-US" sz="1600" i="1" dirty="0">
                <a:solidFill>
                  <a:srgbClr val="1F2937"/>
                </a:solidFill>
              </a:rPr>
              <a:t> rules still apply first.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BEDCD77-6D7D-774C-8BBE-4F4A30A4AE48}"/>
              </a:ext>
            </a:extLst>
          </p:cNvPr>
          <p:cNvSpPr/>
          <p:nvPr/>
        </p:nvSpPr>
        <p:spPr>
          <a:xfrm>
            <a:off x="9652000" y="317500"/>
            <a:ext cx="1778000" cy="3556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FAFAFA"/>
                </a:solidFill>
              </a:rPr>
              <a:t>🎬 DEMO #3 NEXT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386B11-524F-0648-9111-D6D845131CCB}"/>
              </a:ext>
            </a:extLst>
          </p:cNvPr>
          <p:cNvSpPr txBox="1"/>
          <p:nvPr/>
        </p:nvSpPr>
        <p:spPr>
          <a:xfrm>
            <a:off x="762000" y="762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04</a:t>
            </a:r>
          </a:p>
        </p:txBody>
      </p:sp>
    </p:spTree>
    <p:extLst>
      <p:ext uri="{BB962C8B-B14F-4D97-AF65-F5344CB8AC3E}">
        <p14:creationId xmlns:p14="http://schemas.microsoft.com/office/powerpoint/2010/main" val="7694541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2207F2-98B8-724E-99A1-3EDBAE8ED914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F6FEB"/>
                </a:solidFill>
              </a:rPr>
              <a:t>SUPERPOWERS  ·  INSTALL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432C9A-6407-DD46-84AA-0F6A07EE1DAD}"/>
              </a:ext>
            </a:extLst>
          </p:cNvPr>
          <p:cNvSpPr txBox="1"/>
          <p:nvPr/>
        </p:nvSpPr>
        <p:spPr>
          <a:xfrm>
            <a:off x="762000" y="1016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0E1116"/>
                </a:solidFill>
              </a:rPr>
              <a:t>One command. Restart. Done.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5526C5-8A67-B64B-BA8D-4634A469F143}"/>
              </a:ext>
            </a:extLst>
          </p:cNvPr>
          <p:cNvSpPr txBox="1"/>
          <p:nvPr/>
        </p:nvSpPr>
        <p:spPr>
          <a:xfrm>
            <a:off x="762000" y="2159000"/>
            <a:ext cx="10668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1F6FEB"/>
                </a:solidFill>
              </a:rPr>
              <a:t>OFFICIAL MARKETPLACE  ·  RECOMMENDED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75DEFA-A001-9441-925B-E8B8B252A85E}"/>
              </a:ext>
            </a:extLst>
          </p:cNvPr>
          <p:cNvSpPr/>
          <p:nvPr/>
        </p:nvSpPr>
        <p:spPr>
          <a:xfrm>
            <a:off x="762000" y="2489200"/>
            <a:ext cx="10668000" cy="7620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0D9BFD-A8A9-1D42-B0F6-7B47582FC944}"/>
              </a:ext>
            </a:extLst>
          </p:cNvPr>
          <p:cNvSpPr txBox="1"/>
          <p:nvPr/>
        </p:nvSpPr>
        <p:spPr>
          <a:xfrm>
            <a:off x="1016000" y="2641600"/>
            <a:ext cx="10160000" cy="457200"/>
          </a:xfrm>
          <a:prstGeom prst="rect">
            <a:avLst/>
          </a:prstGeom>
          <a:noFill/>
        </p:spPr>
        <p:txBody>
          <a:bodyPr vertOverflow="overflow" vert="horz" wrap="square" rtlCol="0" anchor="ctr">
            <a:noAutofit/>
          </a:bodyPr>
          <a:lstStyle/>
          <a:p>
            <a:pPr algn="l"/>
            <a:r>
              <a:rPr lang="en-US" dirty="0">
                <a:solidFill>
                  <a:srgbClr val="FAFAFA"/>
                </a:solidFill>
                <a:latin typeface="Consolas"/>
                <a:cs typeface="Consolas"/>
              </a:rPr>
              <a:t>/plugin install </a:t>
            </a:r>
            <a:r>
              <a:rPr lang="en-US" dirty="0" err="1">
                <a:solidFill>
                  <a:srgbClr val="FAFAFA"/>
                </a:solidFill>
                <a:latin typeface="Consolas"/>
                <a:cs typeface="Consolas"/>
              </a:rPr>
              <a:t>superpowers@claude-plugins-official</a:t>
            </a:r>
            <a:endParaRPr lang="en-US" dirty="0">
              <a:solidFill>
                <a:srgbClr val="FAFAFA"/>
              </a:solidFill>
              <a:latin typeface="Consolas"/>
              <a:cs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D9EFA8-23BA-1844-B076-F8A4BC002835}"/>
              </a:ext>
            </a:extLst>
          </p:cNvPr>
          <p:cNvSpPr txBox="1"/>
          <p:nvPr/>
        </p:nvSpPr>
        <p:spPr>
          <a:xfrm>
            <a:off x="762000" y="3327400"/>
            <a:ext cx="10668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1F2937"/>
                </a:solidFill>
              </a:rPr>
              <a:t>Stable, vetted in the Anthropic marketplace.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F69C3A-52A8-7944-B784-6EBE1DB839F2}"/>
              </a:ext>
            </a:extLst>
          </p:cNvPr>
          <p:cNvSpPr txBox="1"/>
          <p:nvPr/>
        </p:nvSpPr>
        <p:spPr>
          <a:xfrm>
            <a:off x="762000" y="3810000"/>
            <a:ext cx="10668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1F6FEB"/>
                </a:solidFill>
              </a:rPr>
              <a:t>LATEST FEATURES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F8A637-B44D-8244-8DEB-B40CC4E81B66}"/>
              </a:ext>
            </a:extLst>
          </p:cNvPr>
          <p:cNvSpPr/>
          <p:nvPr/>
        </p:nvSpPr>
        <p:spPr>
          <a:xfrm>
            <a:off x="762000" y="4140200"/>
            <a:ext cx="10668000" cy="11430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54CCC6-F3F8-A346-82AD-57FC15A4F9C4}"/>
              </a:ext>
            </a:extLst>
          </p:cNvPr>
          <p:cNvSpPr txBox="1"/>
          <p:nvPr/>
        </p:nvSpPr>
        <p:spPr>
          <a:xfrm>
            <a:off x="1016000" y="4292600"/>
            <a:ext cx="10160000" cy="889000"/>
          </a:xfrm>
          <a:prstGeom prst="rect">
            <a:avLst/>
          </a:prstGeom>
          <a:noFill/>
        </p:spPr>
        <p:txBody>
          <a:bodyPr vertOverflow="overflow" vert="horz" wrap="square" rtlCol="0" anchor="ctr">
            <a:noAutofit/>
          </a:bodyPr>
          <a:lstStyle/>
          <a:p>
            <a:pPr algn="l"/>
            <a:r>
              <a:rPr lang="en-US" dirty="0">
                <a:solidFill>
                  <a:srgbClr val="FAFAFA"/>
                </a:solidFill>
                <a:latin typeface="Consolas"/>
                <a:cs typeface="Consolas"/>
              </a:rPr>
              <a:t>/plugin marketplace add </a:t>
            </a:r>
            <a:r>
              <a:rPr lang="en-US" dirty="0" err="1">
                <a:solidFill>
                  <a:srgbClr val="FAFAFA"/>
                </a:solidFill>
                <a:latin typeface="Consolas"/>
                <a:cs typeface="Consolas"/>
              </a:rPr>
              <a:t>obra</a:t>
            </a:r>
            <a:r>
              <a:rPr lang="en-US" dirty="0">
                <a:solidFill>
                  <a:srgbClr val="FAFAFA"/>
                </a:solidFill>
                <a:latin typeface="Consolas"/>
                <a:cs typeface="Consolas"/>
              </a:rPr>
              <a:t>/superpowers-marketplace
/plugin install </a:t>
            </a:r>
            <a:r>
              <a:rPr lang="en-US" dirty="0" err="1">
                <a:solidFill>
                  <a:srgbClr val="FAFAFA"/>
                </a:solidFill>
                <a:latin typeface="Consolas"/>
                <a:cs typeface="Consolas"/>
              </a:rPr>
              <a:t>superpowers@superpowers-marketplace</a:t>
            </a:r>
            <a:endParaRPr lang="en-US" dirty="0">
              <a:solidFill>
                <a:srgbClr val="FAFAFA"/>
              </a:solidFill>
              <a:latin typeface="Consolas"/>
              <a:cs typeface="Consola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09BB49-3918-B44F-946E-7AB42E2A2E97}"/>
              </a:ext>
            </a:extLst>
          </p:cNvPr>
          <p:cNvSpPr txBox="1"/>
          <p:nvPr/>
        </p:nvSpPr>
        <p:spPr>
          <a:xfrm>
            <a:off x="762000" y="5359400"/>
            <a:ext cx="10668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1F2937"/>
                </a:solidFill>
              </a:rPr>
              <a:t>Direct from the Superpowers repo. New skills land here first.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F19650-48E4-E645-A36D-2D31E956B37F}"/>
              </a:ext>
            </a:extLst>
          </p:cNvPr>
          <p:cNvSpPr txBox="1"/>
          <p:nvPr/>
        </p:nvSpPr>
        <p:spPr>
          <a:xfrm>
            <a:off x="762000" y="5969000"/>
            <a:ext cx="1066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0E1116"/>
                </a:solidFill>
              </a:rPr>
              <a:t>Restart Claude Code. Skills activate automatically based on what you say next.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11B298-A248-244C-A926-6542E2568506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04</a:t>
            </a:r>
          </a:p>
        </p:txBody>
      </p:sp>
    </p:spTree>
    <p:extLst>
      <p:ext uri="{BB962C8B-B14F-4D97-AF65-F5344CB8AC3E}">
        <p14:creationId xmlns:p14="http://schemas.microsoft.com/office/powerpoint/2010/main" val="4828713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7436BF8-659C-554D-86A5-F19BC3652F7A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F6FEB"/>
                </a:solidFill>
              </a:rPr>
              <a:t>HONEST CAVEAT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1FB26E-F198-4B4A-A8AE-92626C9E0637}"/>
              </a:ext>
            </a:extLst>
          </p:cNvPr>
          <p:cNvSpPr txBox="1"/>
          <p:nvPr/>
        </p:nvSpPr>
        <p:spPr>
          <a:xfrm>
            <a:off x="762000" y="1016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0E1116"/>
                </a:solidFill>
              </a:rPr>
              <a:t>When NOT to use Superpowers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2B5D190-F69B-8E47-A8B9-E8031BDD2C5A}"/>
              </a:ext>
            </a:extLst>
          </p:cNvPr>
          <p:cNvSpPr/>
          <p:nvPr/>
        </p:nvSpPr>
        <p:spPr>
          <a:xfrm>
            <a:off x="762000" y="2222500"/>
            <a:ext cx="10668000" cy="1016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B6EBD53-A401-BB48-AA61-DFBD6E1C89D7}"/>
              </a:ext>
            </a:extLst>
          </p:cNvPr>
          <p:cNvSpPr/>
          <p:nvPr/>
        </p:nvSpPr>
        <p:spPr>
          <a:xfrm>
            <a:off x="1016000" y="2476500"/>
            <a:ext cx="508000" cy="508000"/>
          </a:xfrm>
          <a:prstGeom prst="ellipse">
            <a:avLst/>
          </a:prstGeom>
          <a:solidFill>
            <a:srgbClr val="DCE9F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2200" b="1" dirty="0">
                <a:solidFill>
                  <a:srgbClr val="1F6FEB"/>
                </a:solidFill>
              </a:rPr>
              <a:t>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F01382-6C60-B34B-955E-57F30E87062A}"/>
              </a:ext>
            </a:extLst>
          </p:cNvPr>
          <p:cNvSpPr txBox="1"/>
          <p:nvPr/>
        </p:nvSpPr>
        <p:spPr>
          <a:xfrm>
            <a:off x="1778000" y="2400300"/>
            <a:ext cx="9398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0E1116"/>
                </a:solidFill>
              </a:rPr>
              <a:t>Quick one-off scripts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C1B374-BD1D-9C49-BA4A-EB1733E62E0D}"/>
              </a:ext>
            </a:extLst>
          </p:cNvPr>
          <p:cNvSpPr txBox="1"/>
          <p:nvPr/>
        </p:nvSpPr>
        <p:spPr>
          <a:xfrm>
            <a:off x="1778000" y="2781300"/>
            <a:ext cx="939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Brainstorming wastes your time here. Just write the script.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C5E2F2-379A-5A4D-AB0E-C30A008F58F0}"/>
              </a:ext>
            </a:extLst>
          </p:cNvPr>
          <p:cNvSpPr/>
          <p:nvPr/>
        </p:nvSpPr>
        <p:spPr>
          <a:xfrm>
            <a:off x="762000" y="3441700"/>
            <a:ext cx="10668000" cy="1016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848E822-4A9D-AE43-AC46-C78E1CB30169}"/>
              </a:ext>
            </a:extLst>
          </p:cNvPr>
          <p:cNvSpPr/>
          <p:nvPr/>
        </p:nvSpPr>
        <p:spPr>
          <a:xfrm>
            <a:off x="1016000" y="3695700"/>
            <a:ext cx="508000" cy="508000"/>
          </a:xfrm>
          <a:prstGeom prst="ellipse">
            <a:avLst/>
          </a:prstGeom>
          <a:solidFill>
            <a:srgbClr val="DCE9F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2200" b="1" dirty="0">
                <a:solidFill>
                  <a:srgbClr val="1F6FEB"/>
                </a:solidFill>
              </a:rPr>
              <a:t>✕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2A6645-83EB-5D4C-B1A4-35BE43AB8CBD}"/>
              </a:ext>
            </a:extLst>
          </p:cNvPr>
          <p:cNvSpPr txBox="1"/>
          <p:nvPr/>
        </p:nvSpPr>
        <p:spPr>
          <a:xfrm>
            <a:off x="1778000" y="3619500"/>
            <a:ext cx="9398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0E1116"/>
                </a:solidFill>
              </a:rPr>
              <a:t>Exploring unfamiliar APIs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C5545B-316D-024B-AE9B-B6480C26B739}"/>
              </a:ext>
            </a:extLst>
          </p:cNvPr>
          <p:cNvSpPr txBox="1"/>
          <p:nvPr/>
        </p:nvSpPr>
        <p:spPr>
          <a:xfrm>
            <a:off x="1778000" y="4000500"/>
            <a:ext cx="939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You want to experiment, not write a spec first.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B45E18-1CA5-A740-8373-B42E90D10FB4}"/>
              </a:ext>
            </a:extLst>
          </p:cNvPr>
          <p:cNvSpPr/>
          <p:nvPr/>
        </p:nvSpPr>
        <p:spPr>
          <a:xfrm>
            <a:off x="762000" y="4660900"/>
            <a:ext cx="10668000" cy="1016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A914EB4-AC3B-A14E-8FAD-E02D0028B6B0}"/>
              </a:ext>
            </a:extLst>
          </p:cNvPr>
          <p:cNvSpPr/>
          <p:nvPr/>
        </p:nvSpPr>
        <p:spPr>
          <a:xfrm>
            <a:off x="1016000" y="4914900"/>
            <a:ext cx="508000" cy="508000"/>
          </a:xfrm>
          <a:prstGeom prst="ellipse">
            <a:avLst/>
          </a:prstGeom>
          <a:solidFill>
            <a:srgbClr val="DCE9F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2200" b="1" dirty="0">
                <a:solidFill>
                  <a:srgbClr val="1F6FEB"/>
                </a:solidFill>
              </a:rPr>
              <a:t>✕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0FCBCA-13A8-8F41-B9A2-EB869E14EE68}"/>
              </a:ext>
            </a:extLst>
          </p:cNvPr>
          <p:cNvSpPr txBox="1"/>
          <p:nvPr/>
        </p:nvSpPr>
        <p:spPr>
          <a:xfrm>
            <a:off x="1778000" y="4838700"/>
            <a:ext cx="9398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0E1116"/>
                </a:solidFill>
              </a:rPr>
              <a:t>Very small tweaks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7A2458-CC05-074B-9BF3-1AE6EBFD222F}"/>
              </a:ext>
            </a:extLst>
          </p:cNvPr>
          <p:cNvSpPr txBox="1"/>
          <p:nvPr/>
        </p:nvSpPr>
        <p:spPr>
          <a:xfrm>
            <a:off x="1778000" y="5219700"/>
            <a:ext cx="939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A one-line fix doesn't need tests or a code review.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B7D8A14-6EEE-7C47-9A81-A95B7401743E}"/>
              </a:ext>
            </a:extLst>
          </p:cNvPr>
          <p:cNvSpPr txBox="1"/>
          <p:nvPr/>
        </p:nvSpPr>
        <p:spPr>
          <a:xfrm>
            <a:off x="1016000" y="5969000"/>
            <a:ext cx="1016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AFAFA"/>
                </a:solidFill>
                <a:latin typeface="Consolas"/>
                <a:cs typeface="Consolas"/>
              </a:rPr>
              <a:t>Per-prompt bypass: prefix with "quick task".  ·  Disable: /plugin disable superpowers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F939327-1089-DB40-B349-F7CF3B276D5C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04</a:t>
            </a:r>
          </a:p>
        </p:txBody>
      </p:sp>
    </p:spTree>
    <p:extLst>
      <p:ext uri="{BB962C8B-B14F-4D97-AF65-F5344CB8AC3E}">
        <p14:creationId xmlns:p14="http://schemas.microsoft.com/office/powerpoint/2010/main" val="6601895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426878-A098-0947-8218-B47658F0C23F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F6FEB"/>
                </a:solidFill>
              </a:rPr>
              <a:t>PART 05  ·  HANDS-ON  ·  10 MIN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B7E0DD-D78B-BA4F-A7EA-ADE72CE30578}"/>
              </a:ext>
            </a:extLst>
          </p:cNvPr>
          <p:cNvSpPr txBox="1"/>
          <p:nvPr/>
        </p:nvSpPr>
        <p:spPr>
          <a:xfrm>
            <a:off x="762000" y="1016000"/>
            <a:ext cx="10668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/>
              <a:t>Your turn: run the loop yourself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3D5EA37-FF47-2B4B-89B6-925BD6A5A012}"/>
              </a:ext>
            </a:extLst>
          </p:cNvPr>
          <p:cNvSpPr/>
          <p:nvPr/>
        </p:nvSpPr>
        <p:spPr>
          <a:xfrm>
            <a:off x="762000" y="1955800"/>
            <a:ext cx="406400" cy="406400"/>
          </a:xfrm>
          <a:prstGeom prst="ellipse">
            <a:avLst/>
          </a:prstGeom>
          <a:solidFill>
            <a:srgbClr val="1F6F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F15299-AF2D-7149-B0E1-85438CAFCB1A}"/>
              </a:ext>
            </a:extLst>
          </p:cNvPr>
          <p:cNvSpPr txBox="1"/>
          <p:nvPr/>
        </p:nvSpPr>
        <p:spPr>
          <a:xfrm>
            <a:off x="1397000" y="1930400"/>
            <a:ext cx="4572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/>
              <a:t>Fork &amp; clone the practice repo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A27D3B-8AAE-2940-8537-C41660686ED0}"/>
              </a:ext>
            </a:extLst>
          </p:cNvPr>
          <p:cNvSpPr txBox="1"/>
          <p:nvPr/>
        </p:nvSpPr>
        <p:spPr>
          <a:xfrm>
            <a:off x="6096000" y="1981200"/>
            <a:ext cx="5334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URL on screen. Use whatever editor you came with.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6A1C1FD-7348-C94D-B453-E1A09B273571}"/>
              </a:ext>
            </a:extLst>
          </p:cNvPr>
          <p:cNvSpPr/>
          <p:nvPr/>
        </p:nvSpPr>
        <p:spPr>
          <a:xfrm>
            <a:off x="762000" y="2654300"/>
            <a:ext cx="406400" cy="406400"/>
          </a:xfrm>
          <a:prstGeom prst="ellipse">
            <a:avLst/>
          </a:prstGeom>
          <a:solidFill>
            <a:srgbClr val="1F6F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26F8CB-F86D-DD40-B772-C7064EA92BF9}"/>
              </a:ext>
            </a:extLst>
          </p:cNvPr>
          <p:cNvSpPr txBox="1"/>
          <p:nvPr/>
        </p:nvSpPr>
        <p:spPr>
          <a:xfrm>
            <a:off x="1397000" y="2628900"/>
            <a:ext cx="4572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/>
              <a:t>Generate your project memory file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05D6A1-80F3-714A-8C36-440BE7E507E9}"/>
              </a:ext>
            </a:extLst>
          </p:cNvPr>
          <p:cNvSpPr txBox="1"/>
          <p:nvPr/>
        </p:nvSpPr>
        <p:spPr>
          <a:xfrm>
            <a:off x="6096000" y="2679700"/>
            <a:ext cx="5334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CLAUDE.md, AGENTS.md, GEMINI.md, .cursor/rules. Your tool, your filename.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94B4944-3C8C-F74C-BC2C-1AAF9468F9B5}"/>
              </a:ext>
            </a:extLst>
          </p:cNvPr>
          <p:cNvSpPr/>
          <p:nvPr/>
        </p:nvSpPr>
        <p:spPr>
          <a:xfrm>
            <a:off x="762000" y="3352800"/>
            <a:ext cx="406400" cy="406400"/>
          </a:xfrm>
          <a:prstGeom prst="ellipse">
            <a:avLst/>
          </a:prstGeom>
          <a:solidFill>
            <a:srgbClr val="1F6F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2F52F9-4C3B-0B44-B5F9-92D29C145E6F}"/>
              </a:ext>
            </a:extLst>
          </p:cNvPr>
          <p:cNvSpPr txBox="1"/>
          <p:nvPr/>
        </p:nvSpPr>
        <p:spPr>
          <a:xfrm>
            <a:off x="1397000" y="3327400"/>
            <a:ext cx="4572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 dirty="0"/>
              <a:t>Document one convention you spot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F5F62A-1341-A141-89AF-3154DE229BA8}"/>
              </a:ext>
            </a:extLst>
          </p:cNvPr>
          <p:cNvSpPr txBox="1"/>
          <p:nvPr/>
        </p:nvSpPr>
        <p:spPr>
          <a:xfrm>
            <a:off x="6096000" y="3378200"/>
            <a:ext cx="5334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F2937"/>
                </a:solidFill>
              </a:rPr>
              <a:t>Add it to your memory file under a Conventions section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69FD339-8F5F-3D4B-B612-AF6B3AD52BF9}"/>
              </a:ext>
            </a:extLst>
          </p:cNvPr>
          <p:cNvSpPr/>
          <p:nvPr/>
        </p:nvSpPr>
        <p:spPr>
          <a:xfrm>
            <a:off x="762000" y="4051300"/>
            <a:ext cx="406400" cy="406400"/>
          </a:xfrm>
          <a:prstGeom prst="ellipse">
            <a:avLst/>
          </a:prstGeom>
          <a:solidFill>
            <a:srgbClr val="1F6F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BD9D66-32FC-6A45-A5A5-4457E5A0C0E9}"/>
              </a:ext>
            </a:extLst>
          </p:cNvPr>
          <p:cNvSpPr txBox="1"/>
          <p:nvPr/>
        </p:nvSpPr>
        <p:spPr>
          <a:xfrm>
            <a:off x="1397000" y="4025900"/>
            <a:ext cx="4572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/>
              <a:t>Fix one seeded bug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E52718-604B-8745-A632-5B858B639CF8}"/>
              </a:ext>
            </a:extLst>
          </p:cNvPr>
          <p:cNvSpPr txBox="1"/>
          <p:nvPr/>
        </p:nvSpPr>
        <p:spPr>
          <a:xfrm>
            <a:off x="6096000" y="4076700"/>
            <a:ext cx="5334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Pick from ISSUES.md. Spec → generate → review the diff.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9B2F62E-AC7E-D942-BE53-95664FE45A67}"/>
              </a:ext>
            </a:extLst>
          </p:cNvPr>
          <p:cNvSpPr/>
          <p:nvPr/>
        </p:nvSpPr>
        <p:spPr>
          <a:xfrm>
            <a:off x="762000" y="4749800"/>
            <a:ext cx="406400" cy="406400"/>
          </a:xfrm>
          <a:prstGeom prst="ellipse">
            <a:avLst/>
          </a:prstGeom>
          <a:solidFill>
            <a:srgbClr val="1F6F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EB8B70-0182-3D48-A8B1-5B045703A513}"/>
              </a:ext>
            </a:extLst>
          </p:cNvPr>
          <p:cNvSpPr txBox="1"/>
          <p:nvPr/>
        </p:nvSpPr>
        <p:spPr>
          <a:xfrm>
            <a:off x="1397000" y="4724400"/>
            <a:ext cx="4572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/>
              <a:t>Add one small feature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7A5F1E-725E-E043-B3DD-F7A83FDD1771}"/>
              </a:ext>
            </a:extLst>
          </p:cNvPr>
          <p:cNvSpPr txBox="1"/>
          <p:nvPr/>
        </p:nvSpPr>
        <p:spPr>
          <a:xfrm>
            <a:off x="6096000" y="4775200"/>
            <a:ext cx="5334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Same loop. See FEATURES.md for ideas.</a:t>
            </a:r>
          </a:p>
        </p:txBody>
      </p:sp>
    </p:spTree>
    <p:extLst>
      <p:ext uri="{BB962C8B-B14F-4D97-AF65-F5344CB8AC3E}">
        <p14:creationId xmlns:p14="http://schemas.microsoft.com/office/powerpoint/2010/main" val="36466461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936E9F-B761-7640-B937-BEE41B196365}"/>
              </a:ext>
            </a:extLst>
          </p:cNvPr>
          <p:cNvSpPr/>
          <p:nvPr/>
        </p:nvSpPr>
        <p:spPr>
          <a:xfrm>
            <a:off x="0" y="0"/>
            <a:ext cx="12192000" cy="65532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3AC9C2-0776-9745-96A1-EF53891FA423}"/>
              </a:ext>
            </a:extLst>
          </p:cNvPr>
          <p:cNvSpPr txBox="1"/>
          <p:nvPr/>
        </p:nvSpPr>
        <p:spPr>
          <a:xfrm>
            <a:off x="762000" y="1016000"/>
            <a:ext cx="1066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1F6FEB"/>
                </a:solidFill>
              </a:rPr>
              <a:t>Q&amp;A  ·  PART 06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B1224C-721C-C04D-8B91-790BE72FFB6E}"/>
              </a:ext>
            </a:extLst>
          </p:cNvPr>
          <p:cNvSpPr txBox="1"/>
          <p:nvPr/>
        </p:nvSpPr>
        <p:spPr>
          <a:xfrm>
            <a:off x="762000" y="1651000"/>
            <a:ext cx="10668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400" b="1">
                <a:solidFill>
                  <a:srgbClr val="FAFAFA"/>
                </a:solidFill>
              </a:rPr>
              <a:t>The discipline matters more than the tool.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BDF8C9-9660-E442-B4AD-C8DA8682B129}"/>
              </a:ext>
            </a:extLst>
          </p:cNvPr>
          <p:cNvSpPr txBox="1"/>
          <p:nvPr/>
        </p:nvSpPr>
        <p:spPr>
          <a:xfrm>
            <a:off x="762000" y="3429000"/>
            <a:ext cx="10668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dirty="0">
                <a:solidFill>
                  <a:srgbClr val="E5E7EB"/>
                </a:solidFill>
              </a:rPr>
              <a:t>Learn the loop - spec, generate, review - and you can switch between Cursor, Claude, Copilot, or any new tool without getting lost.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69D1B8-0D87-B148-BE4E-5A47DB64C3D5}"/>
              </a:ext>
            </a:extLst>
          </p:cNvPr>
          <p:cNvSpPr txBox="1"/>
          <p:nvPr/>
        </p:nvSpPr>
        <p:spPr>
          <a:xfrm>
            <a:off x="762000" y="5080000"/>
            <a:ext cx="10668000" cy="70788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000" b="1">
                <a:solidFill>
                  <a:srgbClr val="1F6FEB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46637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8333085324]">
  <a:themeElements>
    <a:clrScheme name="Office">
      <a:dk1>
        <a:srgbClr val="0E1116"/>
      </a:dk1>
      <a:lt1>
        <a:srgbClr val="FAFAFA"/>
      </a:lt1>
      <a:dk2>
        <a:srgbClr val="1F2937"/>
      </a:dk2>
      <a:lt2>
        <a:srgbClr val="E5E7EB"/>
      </a:lt2>
      <a:accent1>
        <a:srgbClr val="1F6FEB"/>
      </a:accent1>
      <a:accent2>
        <a:srgbClr val="1F6FEB"/>
      </a:accent2>
      <a:accent3>
        <a:srgbClr val="0E1116"/>
      </a:accent3>
      <a:accent4>
        <a:srgbClr val="16A34A"/>
      </a:accent4>
      <a:accent5>
        <a:srgbClr val="F59E0B"/>
      </a:accent5>
      <a:accent6>
        <a:srgbClr val="8B5CF6"/>
      </a:accent6>
      <a:hlink>
        <a:srgbClr val="467886"/>
      </a:hlink>
      <a:folHlink>
        <a:srgbClr val="96607D"/>
      </a:folHlink>
    </a:clrScheme>
    <a:fontScheme name="Office">
      <a:majorFont>
        <a:latin typeface="Inter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2B42E85-A4E8-D942-93A2-0743F008D32A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54c69fdd-c454-4db9-b80d-d4703ab7dce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349</TotalTime>
  <Words>1775</Words>
  <Application>Microsoft Macintosh PowerPoint</Application>
  <PresentationFormat>Widescreen</PresentationFormat>
  <Paragraphs>305</Paragraphs>
  <Slides>23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Aptos</vt:lpstr>
      <vt:lpstr>Arial</vt:lpstr>
      <vt:lpstr>Consolas</vt:lpstr>
      <vt:lpstr>Inter</vt:lpstr>
      <vt:lpstr>Office Theme [1778333085324]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Kassem Bagher</dc:creator>
  <cp:lastModifiedBy>Kassem Bagher</cp:lastModifiedBy>
  <cp:revision>44</cp:revision>
  <dcterms:created xsi:type="dcterms:W3CDTF">2026-05-08T23:25:44Z</dcterms:created>
  <dcterms:modified xsi:type="dcterms:W3CDTF">2026-05-09T13:25:26Z</dcterms:modified>
</cp:coreProperties>
</file>